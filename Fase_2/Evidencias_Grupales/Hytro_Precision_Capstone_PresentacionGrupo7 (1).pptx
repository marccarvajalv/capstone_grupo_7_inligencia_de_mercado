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9Q/gUTaXnjSXS+eF0aipsJKDR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640080" y="2651760"/>
            <a:ext cx="10927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0F141B"/>
                </a:solidFill>
                <a:latin typeface="Arial"/>
                <a:ea typeface="Arial"/>
                <a:cs typeface="Arial"/>
                <a:sym typeface="Arial"/>
              </a:rPr>
              <a:t>PROYECTO “HYTRO PRECISION”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822960" y="3364992"/>
            <a:ext cx="10561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41B"/>
                </a:solidFill>
                <a:latin typeface="Arial"/>
                <a:ea typeface="Arial"/>
                <a:cs typeface="Arial"/>
                <a:sym typeface="Arial"/>
              </a:rPr>
              <a:t>PRESENTACIÓN FINAL CAPSTONE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14400" y="4023360"/>
            <a:ext cx="10332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B626D"/>
                </a:solidFill>
                <a:latin typeface="Arial"/>
                <a:ea typeface="Arial"/>
                <a:cs typeface="Arial"/>
                <a:sym typeface="Arial"/>
              </a:rPr>
              <a:t>Grupo 7 · Ingeniería en Informática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“HYTRO PRECISION”</a:t>
            </a:r>
            <a:endParaRPr/>
          </a:p>
        </p:txBody>
      </p:sp>
      <p:cxnSp>
        <p:nvCxnSpPr>
          <p:cNvPr id="94" name="Google Shape;94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5" name="Google Shape;95;p2"/>
          <p:cNvSpPr txBox="1"/>
          <p:nvPr/>
        </p:nvSpPr>
        <p:spPr>
          <a:xfrm>
            <a:off x="274320" y="2651760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F141B"/>
                </a:solidFill>
                <a:latin typeface="Arial"/>
                <a:ea typeface="Arial"/>
                <a:cs typeface="Arial"/>
                <a:sym typeface="Arial"/>
              </a:rPr>
              <a:t>INTEGRANTES DEL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F141B"/>
                </a:solidFill>
                <a:latin typeface="Arial"/>
                <a:ea typeface="Arial"/>
                <a:cs typeface="Arial"/>
                <a:sym typeface="Arial"/>
              </a:rPr>
              <a:t>PROYECTO</a:t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3794760" y="1426464"/>
            <a:ext cx="3685032" cy="1280160"/>
          </a:xfrm>
          <a:prstGeom prst="roundRect">
            <a:avLst>
              <a:gd fmla="val 16667" name="adj"/>
            </a:avLst>
          </a:prstGeom>
          <a:solidFill>
            <a:srgbClr val="5293CD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3950208" y="156362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Marcelo Carvajal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3950208" y="2020824"/>
            <a:ext cx="3383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chemeClr val="dk1"/>
                </a:solidFill>
                <a:latin typeface="Arial"/>
              </a:rPr>
              <a:t>Líder de equipo · DevOps · Seguridad</a:t>
            </a:r>
            <a:endParaRPr/>
          </a:p>
          <a:p>
            <a:r>
              <a:rPr sz="1500">
                <a:solidFill>
                  <a:schemeClr val="dk1"/>
                </a:solidFill>
                <a:latin typeface="Arial"/>
              </a:rPr>
              <a:t>CI/CD, arquitectura e integración</a:t>
            </a:r>
          </a:p>
        </p:txBody>
      </p:sp>
      <p:sp>
        <p:nvSpPr>
          <p:cNvPr id="99" name="Google Shape;99;p2"/>
          <p:cNvSpPr/>
          <p:nvPr/>
        </p:nvSpPr>
        <p:spPr>
          <a:xfrm>
            <a:off x="7680960" y="1426464"/>
            <a:ext cx="3685032" cy="1280160"/>
          </a:xfrm>
          <a:prstGeom prst="roundRect">
            <a:avLst>
              <a:gd fmla="val 16667" name="adj"/>
            </a:avLst>
          </a:prstGeom>
          <a:solidFill>
            <a:srgbClr val="5293CD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7836408" y="156362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Diego Díaz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7836408" y="2020824"/>
            <a:ext cx="3383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chemeClr val="dk1"/>
                </a:solidFill>
                <a:latin typeface="Arial"/>
              </a:rPr>
              <a:t>Desarrollo de la versión demostrable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chemeClr val="dk1"/>
                </a:solidFill>
                <a:latin typeface="Arial"/>
              </a:rPr>
              <a:t>Frontend, navegación e integración</a:t>
            </a:r>
          </a:p>
        </p:txBody>
      </p:sp>
      <p:sp>
        <p:nvSpPr>
          <p:cNvPr id="102" name="Google Shape;102;p2"/>
          <p:cNvSpPr/>
          <p:nvPr/>
        </p:nvSpPr>
        <p:spPr>
          <a:xfrm>
            <a:off x="3794760" y="2907792"/>
            <a:ext cx="3685032" cy="1280160"/>
          </a:xfrm>
          <a:prstGeom prst="roundRect">
            <a:avLst>
              <a:gd fmla="val 16667" name="adj"/>
            </a:avLst>
          </a:prstGeom>
          <a:solidFill>
            <a:srgbClr val="5293CD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3950208" y="304495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Lily Rendic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3950208" y="3502152"/>
            <a:ext cx="3383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chemeClr val="dk1"/>
                </a:solidFill>
                <a:latin typeface="Arial"/>
              </a:rPr>
              <a:t>Prototipo Figma y revisión UI/UX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chemeClr val="dk1"/>
                </a:solidFill>
                <a:latin typeface="Arial"/>
              </a:rPr>
              <a:t>Apoyo en documentación y demo</a:t>
            </a:r>
          </a:p>
        </p:txBody>
      </p:sp>
      <p:sp>
        <p:nvSpPr>
          <p:cNvPr id="105" name="Google Shape;105;p2"/>
          <p:cNvSpPr/>
          <p:nvPr/>
        </p:nvSpPr>
        <p:spPr>
          <a:xfrm>
            <a:off x="7680960" y="2907792"/>
            <a:ext cx="3685032" cy="1280160"/>
          </a:xfrm>
          <a:prstGeom prst="roundRect">
            <a:avLst>
              <a:gd fmla="val 16667" name="adj"/>
            </a:avLst>
          </a:prstGeom>
          <a:solidFill>
            <a:srgbClr val="5293CD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7836408" y="304495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Natalia Quintana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7836408" y="3502152"/>
            <a:ext cx="3383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chemeClr val="dk1"/>
                </a:solidFill>
                <a:latin typeface="Arial"/>
              </a:rPr>
              <a:t>IA y visión por computador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chemeClr val="dk1"/>
                </a:solidFill>
                <a:latin typeface="Arial"/>
              </a:rPr>
              <a:t>Pose Estimation, landmarks y Cuff Check</a:t>
            </a:r>
          </a:p>
        </p:txBody>
      </p:sp>
      <p:sp>
        <p:nvSpPr>
          <p:cNvPr id="108" name="Google Shape;108;p2"/>
          <p:cNvSpPr/>
          <p:nvPr/>
        </p:nvSpPr>
        <p:spPr>
          <a:xfrm>
            <a:off x="3794760" y="4389120"/>
            <a:ext cx="3685032" cy="1280160"/>
          </a:xfrm>
          <a:prstGeom prst="roundRect">
            <a:avLst>
              <a:gd fmla="val 16667" name="adj"/>
            </a:avLst>
          </a:prstGeom>
          <a:solidFill>
            <a:srgbClr val="5293CD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3950208" y="45262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Sebastián La Rosa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3950208" y="4960620"/>
            <a:ext cx="33834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chemeClr val="dk1"/>
                </a:solidFill>
                <a:latin typeface="Arial"/>
              </a:rPr>
              <a:t>Análisis funcional / Scrum Master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chemeClr val="dk1"/>
                </a:solidFill>
                <a:latin typeface="Arial"/>
              </a:rPr>
              <a:t>Backlog, ceremonias y seguimiento de sprints</a:t>
            </a:r>
          </a:p>
        </p:txBody>
      </p: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“HYTRO PRECISION”</a:t>
            </a:r>
            <a:endParaRPr/>
          </a:p>
        </p:txBody>
      </p:sp>
      <p:cxnSp>
        <p:nvCxnSpPr>
          <p:cNvPr id="117" name="Google Shape;117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8" name="Google Shape;118;p3"/>
          <p:cNvSpPr txBox="1"/>
          <p:nvPr/>
        </p:nvSpPr>
        <p:spPr>
          <a:xfrm>
            <a:off x="457200" y="1225296"/>
            <a:ext cx="112928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0F141B"/>
                </a:solidFill>
                <a:latin typeface="Arial"/>
                <a:ea typeface="Arial"/>
                <a:cs typeface="Arial"/>
                <a:sym typeface="Arial"/>
              </a:rPr>
              <a:t>DESCRIPCIÓN DEL PROYECTO</a:t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676656" y="2286000"/>
            <a:ext cx="5010912" cy="3840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859536" y="2432304"/>
            <a:ext cx="4645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F3D62"/>
                </a:solidFill>
                <a:latin typeface="Arial"/>
                <a:ea typeface="Arial"/>
                <a:cs typeface="Arial"/>
                <a:sym typeface="Arial"/>
              </a:rPr>
              <a:t>Problema o dolor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859536" y="2880360"/>
            <a:ext cx="4645152" cy="31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0F141B"/>
                </a:solidFill>
                <a:latin typeface="Arial"/>
              </a:rPr>
              <a:t>El BFR requiere controlar contraindicaciones, ubicación del cuff, presión/tensión y ejecución del entrenamiento.</a:t>
            </a:r>
            <a:endParaRPr/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/>
              <a:t/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700" b="0">
                <a:solidFill>
                  <a:srgbClr val="0F141B"/>
                </a:solidFill>
                <a:latin typeface="Arial"/>
              </a:rPr>
              <a:t>Sin una guía integrada, el usuario puede cometer errores y perder trazabilidad de sus sesiones.</a:t>
            </a:r>
          </a:p>
        </p:txBody>
      </p:sp>
      <p:sp>
        <p:nvSpPr>
          <p:cNvPr id="122" name="Google Shape;122;p3"/>
          <p:cNvSpPr/>
          <p:nvPr/>
        </p:nvSpPr>
        <p:spPr>
          <a:xfrm>
            <a:off x="6492240" y="2286000"/>
            <a:ext cx="5010912" cy="3840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6675120" y="2432304"/>
            <a:ext cx="4645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F3D62"/>
                </a:solidFill>
                <a:latin typeface="Arial"/>
                <a:ea typeface="Arial"/>
                <a:cs typeface="Arial"/>
                <a:sym typeface="Arial"/>
              </a:rPr>
              <a:t>Propuesta de solución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6675120" y="2880360"/>
            <a:ext cx="4645152" cy="31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0F141B"/>
                </a:solidFill>
                <a:latin typeface="Arial"/>
              </a:rPr>
              <a:t>Hytro Precision acompaña el flujo BFR con screening médico, perfil físico, metas, Body Map, Cuff Check, entrenamiento y progreso.</a:t>
            </a:r>
            <a:endParaRPr/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/>
              <a:t/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700" b="0">
                <a:solidFill>
                  <a:srgbClr val="0F141B"/>
                </a:solidFill>
                <a:latin typeface="Arial"/>
              </a:rPr>
              <a:t>El MVP combina una versión demostrable móvil con API y persistencia en integración.</a:t>
            </a:r>
          </a:p>
        </p:txBody>
      </p:sp>
      <p:sp>
        <p:nvSpPr>
          <p:cNvPr id="125" name="Google Shape;125;p3"/>
          <p:cNvSpPr txBox="1"/>
          <p:nvPr/>
        </p:nvSpPr>
        <p:spPr>
          <a:xfrm>
            <a:off x="5696712" y="3703320"/>
            <a:ext cx="777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4B7BB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0" name="Google Shape;1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“HYTRO PRECISION”</a:t>
            </a:r>
            <a:endParaRPr/>
          </a:p>
        </p:txBody>
      </p:sp>
      <p:cxnSp>
        <p:nvCxnSpPr>
          <p:cNvPr id="132" name="Google Shape;132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3" name="Google Shape;133;p4"/>
          <p:cNvSpPr txBox="1"/>
          <p:nvPr/>
        </p:nvSpPr>
        <p:spPr>
          <a:xfrm>
            <a:off x="457200" y="1225296"/>
            <a:ext cx="112928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0F141B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713232" y="2039112"/>
            <a:ext cx="10744200" cy="1508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896112" y="2185416"/>
            <a:ext cx="10378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F3D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891512" y="2349597"/>
            <a:ext cx="103785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Arial"/>
              </a:rPr>
              <a:t>Diseñar, implementar y validar un MVP funcional de Hytro Precision que apoye el uso guiado de BFR mediante screening, perfil físico, Cuff Check, entrenamiento y persistencia de datos, dejando una base técnica documentada para futuras iteraciones.</a:t>
            </a:r>
            <a:endParaRPr sz="1200"/>
          </a:p>
        </p:txBody>
      </p:sp>
      <p:sp>
        <p:nvSpPr>
          <p:cNvPr id="137" name="Google Shape;137;p4"/>
          <p:cNvSpPr txBox="1"/>
          <p:nvPr/>
        </p:nvSpPr>
        <p:spPr>
          <a:xfrm>
            <a:off x="548640" y="388620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>
                <a:solidFill>
                  <a:srgbClr val="0F141B"/>
                </a:solidFill>
                <a:latin typeface="Arial"/>
                <a:ea typeface="Arial"/>
                <a:cs typeface="Arial"/>
                <a:sym typeface="Arial"/>
              </a:rPr>
              <a:t>Objetivos Específicos</a:t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713232" y="4517136"/>
            <a:ext cx="10744200" cy="16642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896112" y="4663440"/>
            <a:ext cx="10378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F3D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896112" y="4828946"/>
            <a:ext cx="10378500" cy="1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dk1"/>
                </a:solidFill>
                <a:latin typeface="Arial"/>
              </a:rPr>
              <a:t>• Consolidar requerimientos, riesgos y dependencias del MVP.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chemeClr val="dk1"/>
                </a:solidFill>
                <a:latin typeface="Arial"/>
              </a:rPr>
              <a:t>• Implementar arquitectura base, API y base de datos operativa.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chemeClr val="dk1"/>
                </a:solidFill>
                <a:latin typeface="Arial"/>
              </a:rPr>
              <a:t>• Desarrollar onboarding, perfil, Body Map y Cuff Check.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chemeClr val="dk1"/>
                </a:solidFill>
                <a:latin typeface="Arial"/>
              </a:rPr>
              <a:t>• Validar cámara/Pose Estimation y una alternativa guiada.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chemeClr val="dk1"/>
                </a:solidFill>
                <a:latin typeface="Arial"/>
              </a:rPr>
              <a:t>• Integrar sesiones, progreso, pruebas, seguridad y documentación.</a:t>
            </a:r>
          </a:p>
        </p:txBody>
      </p:sp>
    </p:spTree>
  </p:cSld>
  <p:clrMapOvr>
    <a:masterClrMapping/>
  </p:clrMapOvr>
  <p:transition spd="slow">
    <p:wipe dir="l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5" name="Google Shape;1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“HYTRO PRECISION”</a:t>
            </a:r>
            <a:endParaRPr/>
          </a:p>
        </p:txBody>
      </p:sp>
      <p:cxnSp>
        <p:nvCxnSpPr>
          <p:cNvPr id="147" name="Google Shape;147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8" name="Google Shape;148;p5"/>
          <p:cNvSpPr txBox="1"/>
          <p:nvPr/>
        </p:nvSpPr>
        <p:spPr>
          <a:xfrm>
            <a:off x="457200" y="1225296"/>
            <a:ext cx="112928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0F141B"/>
                </a:solidFill>
                <a:latin typeface="Arial"/>
                <a:ea typeface="Arial"/>
                <a:cs typeface="Arial"/>
                <a:sym typeface="Arial"/>
              </a:rPr>
              <a:t>Alcance y limitaciones del proyecto</a:t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704100" y="2331725"/>
            <a:ext cx="5331000" cy="4151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886968" y="2478024"/>
            <a:ext cx="49651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F3D62"/>
                </a:solidFill>
                <a:latin typeface="Arial"/>
                <a:ea typeface="Arial"/>
                <a:cs typeface="Arial"/>
                <a:sym typeface="Arial"/>
              </a:rPr>
              <a:t>Alcance del MVP</a:t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909803" y="2868929"/>
            <a:ext cx="4965300" cy="35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>
                <a:solidFill>
                  <a:schemeClr val="dk1"/>
                </a:solidFill>
                <a:latin typeface="Arial"/>
              </a:rPr>
              <a:t>• Demo Android con flujo navegable.</a:t>
            </a:r>
            <a:endParaRPr/>
          </a:p>
          <a:p>
            <a: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sz="1700">
                <a:solidFill>
                  <a:schemeClr val="dk1"/>
                </a:solidFill>
                <a:latin typeface="Arial"/>
              </a:rPr>
              <a:t>• Onboarding: perfil, screening, meta y kit.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sz="1700">
                <a:solidFill>
                  <a:schemeClr val="dk1"/>
                </a:solidFill>
                <a:latin typeface="Arial"/>
              </a:rPr>
              <a:t>• Home, Body Map, Cuff Check, CRT y progreso.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sz="1700">
                <a:solidFill>
                  <a:schemeClr val="dk1"/>
                </a:solidFill>
                <a:latin typeface="Arial"/>
              </a:rPr>
              <a:t>• API REST + PostgreSQL local para Hito 1.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</a:pPr>
            <a:r>
              <a:rPr sz="1700">
                <a:solidFill>
                  <a:schemeClr val="dk1"/>
                </a:solidFill>
                <a:latin typeface="Arial"/>
              </a:rPr>
              <a:t>• Figma, Jira y Release Plan como trazabilidad.</a:t>
            </a:r>
          </a:p>
        </p:txBody>
      </p:sp>
      <p:sp>
        <p:nvSpPr>
          <p:cNvPr id="152" name="Google Shape;152;p5"/>
          <p:cNvSpPr/>
          <p:nvPr/>
        </p:nvSpPr>
        <p:spPr>
          <a:xfrm>
            <a:off x="6208775" y="2331725"/>
            <a:ext cx="5331000" cy="4151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6391656" y="2478024"/>
            <a:ext cx="49651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F3D62"/>
                </a:solidFill>
                <a:latin typeface="Arial"/>
                <a:ea typeface="Arial"/>
                <a:cs typeface="Arial"/>
                <a:sym typeface="Arial"/>
              </a:rPr>
              <a:t>Limitaciones y precauciones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6414466" y="3078609"/>
            <a:ext cx="4965300" cy="26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>
                <a:solidFill>
                  <a:schemeClr val="dk1"/>
                </a:solidFill>
                <a:latin typeface="Arial"/>
              </a:rPr>
              <a:t>• Parte de la interfaz aún opera en modo demo/local.</a:t>
            </a:r>
            <a:endParaRPr/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700">
                <a:solidFill>
                  <a:schemeClr val="dk1"/>
                </a:solidFill>
                <a:latin typeface="Arial"/>
              </a:rPr>
              <a:t>• Pose Estimation y detección del cuff siguen en validación.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700">
                <a:solidFill>
                  <a:schemeClr val="dk1"/>
                </a:solidFill>
                <a:latin typeface="Arial"/>
              </a:rPr>
              <a:t>• Wearables/readiness pueden usar datos mock.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700">
                <a:solidFill>
                  <a:schemeClr val="dk1"/>
                </a:solidFill>
                <a:latin typeface="Arial"/>
              </a:rPr>
              <a:t>• LOP es estimativo; no constituye prescripción clínica.</a:t>
            </a:r>
          </a:p>
          <a:p>
            <a:pPr algn="l">
              <a:spcBef>
                <a:spcPts val="1000"/>
              </a:spcBef>
              <a:spcAft>
                <a:spcPts val="1000"/>
              </a:spcAft>
            </a:pPr>
            <a:r>
              <a:rPr sz="1700">
                <a:solidFill>
                  <a:schemeClr val="dk1"/>
                </a:solidFill>
                <a:latin typeface="Arial"/>
              </a:rPr>
              <a:t>• Docker, integración E2E y cloud quedan pendientes.</a:t>
            </a: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9" name="Google Shape;1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“HYTRO PRECISION”</a:t>
            </a:r>
            <a:endParaRPr/>
          </a:p>
        </p:txBody>
      </p:sp>
      <p:cxnSp>
        <p:nvCxnSpPr>
          <p:cNvPr id="161" name="Google Shape;161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2" name="Google Shape;162;p6"/>
          <p:cNvSpPr txBox="1"/>
          <p:nvPr/>
        </p:nvSpPr>
        <p:spPr>
          <a:xfrm>
            <a:off x="457200" y="1225296"/>
            <a:ext cx="112928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0F141B"/>
                </a:solidFill>
                <a:latin typeface="Arial"/>
                <a:ea typeface="Arial"/>
                <a:cs typeface="Arial"/>
                <a:sym typeface="Arial"/>
              </a:rPr>
              <a:t>Metodología de trabajo para el desarrollo del proyecto</a:t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658368" y="2743200"/>
            <a:ext cx="2044598" cy="1234440"/>
          </a:xfrm>
          <a:prstGeom prst="roundRect">
            <a:avLst>
              <a:gd fmla="val 16667" name="adj"/>
            </a:avLst>
          </a:prstGeom>
          <a:solidFill>
            <a:srgbClr val="EEF6FF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 txBox="1"/>
          <p:nvPr/>
        </p:nvSpPr>
        <p:spPr>
          <a:xfrm>
            <a:off x="749808" y="2880360"/>
            <a:ext cx="186171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>
                <a:solidFill>
                  <a:schemeClr val="dk1"/>
                </a:solidFill>
                <a:latin typeface="Arial"/>
              </a:rPr>
              <a:t>Sprint 1</a:t>
            </a:r>
            <a:endParaRPr/>
          </a:p>
        </p:txBody>
      </p:sp>
      <p:sp>
        <p:nvSpPr>
          <p:cNvPr id="165" name="Google Shape;165;p6"/>
          <p:cNvSpPr txBox="1"/>
          <p:nvPr/>
        </p:nvSpPr>
        <p:spPr>
          <a:xfrm>
            <a:off x="749808" y="3282696"/>
            <a:ext cx="186171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chemeClr val="dk1"/>
                </a:solidFill>
                <a:latin typeface="Arial"/>
              </a:rPr>
              <a:t>Base e Hito 1</a:t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2867558" y="2743200"/>
            <a:ext cx="2044598" cy="1234440"/>
          </a:xfrm>
          <a:prstGeom prst="roundRect">
            <a:avLst>
              <a:gd fmla="val 16667" name="adj"/>
            </a:avLst>
          </a:prstGeom>
          <a:solidFill>
            <a:srgbClr val="EEF6FF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2958998" y="2880360"/>
            <a:ext cx="186171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>
                <a:solidFill>
                  <a:schemeClr val="dk1"/>
                </a:solidFill>
                <a:latin typeface="Arial"/>
              </a:rPr>
              <a:t>Release 1</a:t>
            </a:r>
            <a:endParaRPr/>
          </a:p>
        </p:txBody>
      </p:sp>
      <p:sp>
        <p:nvSpPr>
          <p:cNvPr id="168" name="Google Shape;168;p6"/>
          <p:cNvSpPr txBox="1"/>
          <p:nvPr/>
        </p:nvSpPr>
        <p:spPr>
          <a:xfrm>
            <a:off x="2958998" y="3282696"/>
            <a:ext cx="186171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chemeClr val="dk1"/>
                </a:solidFill>
                <a:latin typeface="Arial"/>
              </a:rPr>
              <a:t>MVP operativo</a:t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5076748" y="2743200"/>
            <a:ext cx="2044598" cy="1234440"/>
          </a:xfrm>
          <a:prstGeom prst="roundRect">
            <a:avLst>
              <a:gd fmla="val 16667" name="adj"/>
            </a:avLst>
          </a:prstGeom>
          <a:solidFill>
            <a:srgbClr val="EEF6FF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5168188" y="2880360"/>
            <a:ext cx="186171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>
                <a:solidFill>
                  <a:schemeClr val="dk1"/>
                </a:solidFill>
                <a:latin typeface="Arial"/>
              </a:rPr>
              <a:t>Release 2</a:t>
            </a:r>
            <a:endParaRPr/>
          </a:p>
        </p:txBody>
      </p:sp>
      <p:sp>
        <p:nvSpPr>
          <p:cNvPr id="171" name="Google Shape;171;p6"/>
          <p:cNvSpPr txBox="1"/>
          <p:nvPr/>
        </p:nvSpPr>
        <p:spPr>
          <a:xfrm>
            <a:off x="5168188" y="3282696"/>
            <a:ext cx="186171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chemeClr val="dk1"/>
                </a:solidFill>
                <a:latin typeface="Arial"/>
              </a:rPr>
              <a:t>Integración</a:t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7285939" y="2743200"/>
            <a:ext cx="2044598" cy="1234440"/>
          </a:xfrm>
          <a:prstGeom prst="roundRect">
            <a:avLst>
              <a:gd fmla="val 16667" name="adj"/>
            </a:avLst>
          </a:prstGeom>
          <a:solidFill>
            <a:srgbClr val="EEF6FF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7377379" y="2880360"/>
            <a:ext cx="186171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>
                <a:solidFill>
                  <a:schemeClr val="dk1"/>
                </a:solidFill>
                <a:latin typeface="Arial"/>
              </a:rPr>
              <a:t>Release 3</a:t>
            </a:r>
            <a:endParaRPr/>
          </a:p>
        </p:txBody>
      </p:sp>
      <p:sp>
        <p:nvSpPr>
          <p:cNvPr id="174" name="Google Shape;174;p6"/>
          <p:cNvSpPr txBox="1"/>
          <p:nvPr/>
        </p:nvSpPr>
        <p:spPr>
          <a:xfrm>
            <a:off x="7377379" y="3282696"/>
            <a:ext cx="186171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chemeClr val="dk1"/>
                </a:solidFill>
                <a:latin typeface="Arial"/>
              </a:rPr>
              <a:t>QA / cierre</a:t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9495129" y="2743200"/>
            <a:ext cx="2044598" cy="1234440"/>
          </a:xfrm>
          <a:prstGeom prst="roundRect">
            <a:avLst>
              <a:gd fmla="val 16667" name="adj"/>
            </a:avLst>
          </a:prstGeom>
          <a:solidFill>
            <a:srgbClr val="EEF6FF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9586569" y="2880360"/>
            <a:ext cx="186171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>
                <a:solidFill>
                  <a:schemeClr val="dk1"/>
                </a:solidFill>
                <a:latin typeface="Arial"/>
              </a:rPr>
              <a:t>Entrega</a:t>
            </a:r>
            <a:endParaRPr/>
          </a:p>
        </p:txBody>
      </p:sp>
      <p:sp>
        <p:nvSpPr>
          <p:cNvPr id="177" name="Google Shape;177;p6"/>
          <p:cNvSpPr txBox="1"/>
          <p:nvPr/>
        </p:nvSpPr>
        <p:spPr>
          <a:xfrm>
            <a:off x="9586569" y="3282696"/>
            <a:ext cx="186171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chemeClr val="dk1"/>
                </a:solidFill>
                <a:latin typeface="Arial"/>
              </a:rPr>
              <a:t>Transferencia</a:t>
            </a:r>
            <a:endParaRPr/>
          </a:p>
        </p:txBody>
      </p:sp>
      <p:sp>
        <p:nvSpPr>
          <p:cNvPr id="178" name="Google Shape;178;p6"/>
          <p:cNvSpPr txBox="1"/>
          <p:nvPr/>
        </p:nvSpPr>
        <p:spPr>
          <a:xfrm>
            <a:off x="1005840" y="4800600"/>
            <a:ext cx="10241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>
                <a:solidFill>
                  <a:schemeClr val="dk1"/>
                </a:solidFill>
                <a:latin typeface="Arial"/>
              </a:rPr>
              <a:t>Scrum gestionado en Jira con sprints semanales, Product Backlog y Sprint Backlog. La prioridad se define por riesgo y dependencias: arquitectura/API/BD y Pose Estimation antes de integraciones secundarias.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3" name="Google Shape;18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“HYTRO PRECISION”</a:t>
            </a:r>
            <a:endParaRPr/>
          </a:p>
        </p:txBody>
      </p:sp>
      <p:cxnSp>
        <p:nvCxnSpPr>
          <p:cNvPr id="185" name="Google Shape;185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6" name="Google Shape;186;p7"/>
          <p:cNvSpPr txBox="1"/>
          <p:nvPr/>
        </p:nvSpPr>
        <p:spPr>
          <a:xfrm>
            <a:off x="457200" y="1225296"/>
            <a:ext cx="112928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 b="0">
                <a:solidFill>
                  <a:srgbClr val="0F141B"/>
                </a:solidFill>
                <a:latin typeface="Arial"/>
              </a:rPr>
              <a:t>Release Plan para el desarrollo del proyecto</a:t>
            </a:r>
            <a:endParaRPr/>
          </a:p>
        </p:txBody>
      </p:sp>
      <p:sp>
        <p:nvSpPr>
          <p:cNvPr id="187" name="Google Shape;187;p7"/>
          <p:cNvSpPr txBox="1"/>
          <p:nvPr/>
        </p:nvSpPr>
        <p:spPr>
          <a:xfrm>
            <a:off x="777240" y="1865376"/>
            <a:ext cx="106070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1E232C"/>
                </a:solidFill>
                <a:latin typeface="Arial"/>
              </a:rPr>
              <a:t>Seguimiento real en Jira: Sprint 1 (28 sep–3 oct) a Sprint 7 (9–14 nov), más backlog técnico de integración y cierre.</a:t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603504" y="2596896"/>
            <a:ext cx="3511296" cy="630936"/>
          </a:xfrm>
          <a:prstGeom prst="rect">
            <a:avLst/>
          </a:prstGeom>
          <a:solidFill>
            <a:srgbClr val="DBEFD4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694944" y="2688336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chemeClr val="dk1"/>
                </a:solidFill>
                <a:latin typeface="Arial"/>
              </a:rPr>
              <a:t>RELEASE 1 · BASE / MVP</a:t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4279392" y="2596896"/>
            <a:ext cx="3511296" cy="630936"/>
          </a:xfrm>
          <a:prstGeom prst="rect">
            <a:avLst/>
          </a:prstGeom>
          <a:solidFill>
            <a:srgbClr val="FFF2D3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 txBox="1"/>
          <p:nvPr/>
        </p:nvSpPr>
        <p:spPr>
          <a:xfrm>
            <a:off x="4370831" y="2688336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chemeClr val="dk1"/>
                </a:solidFill>
                <a:latin typeface="Arial"/>
              </a:rPr>
              <a:t>RELEASE 2 · INTEGRACIÓN</a:t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7955279" y="2596896"/>
            <a:ext cx="3511296" cy="630936"/>
          </a:xfrm>
          <a:prstGeom prst="rect">
            <a:avLst/>
          </a:prstGeom>
          <a:solidFill>
            <a:srgbClr val="F6DFD3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8046719" y="2688336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chemeClr val="dk1"/>
                </a:solidFill>
                <a:latin typeface="Arial"/>
              </a:rPr>
              <a:t>RELEASE 3 · CIERRE</a:t>
            </a:r>
            <a:endParaRPr/>
          </a:p>
        </p:txBody>
      </p:sp>
      <p:sp>
        <p:nvSpPr>
          <p:cNvPr id="194" name="Google Shape;194;p7"/>
          <p:cNvSpPr txBox="1"/>
          <p:nvPr/>
        </p:nvSpPr>
        <p:spPr>
          <a:xfrm>
            <a:off x="832104" y="341985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B7BB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95" name="Google Shape;195;p7"/>
          <p:cNvSpPr txBox="1"/>
          <p:nvPr/>
        </p:nvSpPr>
        <p:spPr>
          <a:xfrm>
            <a:off x="1618488" y="3419856"/>
            <a:ext cx="53949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chemeClr val="dk1"/>
                </a:solidFill>
                <a:latin typeface="Arial"/>
              </a:rPr>
              <a:t>Arquitectura, API, autenticación y BD operativa</a:t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7223760" y="3438144"/>
            <a:ext cx="3108960" cy="201168"/>
          </a:xfrm>
          <a:prstGeom prst="rect">
            <a:avLst/>
          </a:prstGeom>
          <a:solidFill>
            <a:srgbClr val="ECF2FA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832104" y="3931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B7BB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98" name="Google Shape;198;p7"/>
          <p:cNvSpPr txBox="1"/>
          <p:nvPr/>
        </p:nvSpPr>
        <p:spPr>
          <a:xfrm>
            <a:off x="1618488" y="3931920"/>
            <a:ext cx="53949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chemeClr val="dk1"/>
                </a:solidFill>
                <a:latin typeface="Arial"/>
              </a:rPr>
              <a:t>Pose Estimation, onboarding y Cuff Check</a:t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7223760" y="3950208"/>
            <a:ext cx="3108960" cy="201168"/>
          </a:xfrm>
          <a:prstGeom prst="rect">
            <a:avLst/>
          </a:prstGeom>
          <a:solidFill>
            <a:srgbClr val="ECF2FA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832104" y="444398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B7BB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01" name="Google Shape;201;p7"/>
          <p:cNvSpPr txBox="1"/>
          <p:nvPr/>
        </p:nvSpPr>
        <p:spPr>
          <a:xfrm>
            <a:off x="1618488" y="4443984"/>
            <a:ext cx="53949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chemeClr val="dk1"/>
                </a:solidFill>
                <a:latin typeface="Arial"/>
              </a:rPr>
              <a:t>Workout, progreso, sincronización y wearables</a:t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7223760" y="4462272"/>
            <a:ext cx="3108960" cy="201168"/>
          </a:xfrm>
          <a:prstGeom prst="rect">
            <a:avLst/>
          </a:prstGeom>
          <a:solidFill>
            <a:srgbClr val="ECF2FA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832104" y="495604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B7BB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04" name="Google Shape;204;p7"/>
          <p:cNvSpPr txBox="1"/>
          <p:nvPr/>
        </p:nvSpPr>
        <p:spPr>
          <a:xfrm>
            <a:off x="1618488" y="4956048"/>
            <a:ext cx="53949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chemeClr val="dk1"/>
                </a:solidFill>
                <a:latin typeface="Arial"/>
              </a:rPr>
              <a:t>Docker, QA, documentación y transferencia</a:t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7223760" y="4974336"/>
            <a:ext cx="3108960" cy="201168"/>
          </a:xfrm>
          <a:prstGeom prst="rect">
            <a:avLst/>
          </a:prstGeom>
          <a:solidFill>
            <a:srgbClr val="ECF2FA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 txBox="1"/>
          <p:nvPr/>
        </p:nvSpPr>
        <p:spPr>
          <a:xfrm>
            <a:off x="731520" y="5797296"/>
            <a:ext cx="10789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1E232C"/>
                </a:solidFill>
                <a:latin typeface="Arial"/>
              </a:rPr>
              <a:t>Los releases agrupan incrementos verificables; el control de avance se realiza en Jira. No se utiliza Carta Gantt.</a:t>
            </a:r>
            <a:endParaRPr/>
          </a:p>
        </p:txBody>
      </p:sp>
      <p:sp>
        <p:nvSpPr>
          <p:cNvPr id="207" name="Google Shape;207;p7"/>
          <p:cNvSpPr txBox="1"/>
          <p:nvPr/>
        </p:nvSpPr>
        <p:spPr>
          <a:xfrm>
            <a:off x="777240" y="6437376"/>
            <a:ext cx="10789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4B5665"/>
                </a:solidFill>
                <a:latin typeface="Arial"/>
              </a:rPr>
              <a:t>Estado de referencia: Jira Grupo 7 al 16-10-2026.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2" name="Google Shape;21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“HYTRO PRECISION”</a:t>
            </a:r>
            <a:endParaRPr/>
          </a:p>
        </p:txBody>
      </p:sp>
      <p:cxnSp>
        <p:nvCxnSpPr>
          <p:cNvPr id="214" name="Google Shape;214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15" name="Google Shape;215;p8"/>
          <p:cNvSpPr txBox="1"/>
          <p:nvPr/>
        </p:nvSpPr>
        <p:spPr>
          <a:xfrm>
            <a:off x="457200" y="1225296"/>
            <a:ext cx="112928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0F141B"/>
                </a:solidFill>
                <a:latin typeface="Arial"/>
                <a:ea typeface="Arial"/>
                <a:cs typeface="Arial"/>
                <a:sym typeface="Arial"/>
              </a:rPr>
              <a:t>Arquitectura del software</a:t>
            </a:r>
            <a:endParaRPr/>
          </a:p>
        </p:txBody>
      </p:sp>
      <p:sp>
        <p:nvSpPr>
          <p:cNvPr id="216" name="Google Shape;216;p8"/>
          <p:cNvSpPr txBox="1"/>
          <p:nvPr/>
        </p:nvSpPr>
        <p:spPr>
          <a:xfrm>
            <a:off x="777240" y="1865376"/>
            <a:ext cx="106070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dk1"/>
                </a:solidFill>
                <a:latin typeface="Arial"/>
              </a:rPr>
              <a:t>Arquitectura del MVP y estado de integración actual.</a:t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640080" y="2587752"/>
            <a:ext cx="324612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 txBox="1"/>
          <p:nvPr/>
        </p:nvSpPr>
        <p:spPr>
          <a:xfrm>
            <a:off x="822959" y="2734056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F3D62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/>
          </a:p>
        </p:txBody>
      </p:sp>
      <p:sp>
        <p:nvSpPr>
          <p:cNvPr id="219" name="Google Shape;219;p8"/>
          <p:cNvSpPr txBox="1"/>
          <p:nvPr/>
        </p:nvSpPr>
        <p:spPr>
          <a:xfrm>
            <a:off x="822959" y="3182112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0F141B"/>
                </a:solidFill>
                <a:latin typeface="Arial"/>
              </a:rPr>
              <a:t>Demo móvil</a:t>
            </a:r>
            <a:endParaRPr/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0F141B"/>
                </a:solidFill>
                <a:latin typeface="Arial"/>
              </a:rPr>
              <a:t>React + TypeScript + Capacitor</a:t>
            </a:r>
          </a:p>
        </p:txBody>
      </p:sp>
      <p:sp>
        <p:nvSpPr>
          <p:cNvPr id="220" name="Google Shape;220;p8"/>
          <p:cNvSpPr/>
          <p:nvPr/>
        </p:nvSpPr>
        <p:spPr>
          <a:xfrm>
            <a:off x="4462272" y="2587752"/>
            <a:ext cx="324612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 txBox="1"/>
          <p:nvPr/>
        </p:nvSpPr>
        <p:spPr>
          <a:xfrm>
            <a:off x="4645152" y="2734056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F3D62"/>
                </a:solidFill>
                <a:latin typeface="Arial"/>
                <a:ea typeface="Arial"/>
                <a:cs typeface="Arial"/>
                <a:sym typeface="Arial"/>
              </a:rPr>
              <a:t>API REST</a:t>
            </a:r>
            <a:endParaRPr/>
          </a:p>
        </p:txBody>
      </p:sp>
      <p:sp>
        <p:nvSpPr>
          <p:cNvPr id="222" name="Google Shape;222;p8"/>
          <p:cNvSpPr txBox="1"/>
          <p:nvPr/>
        </p:nvSpPr>
        <p:spPr>
          <a:xfrm>
            <a:off x="4645152" y="3182112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0F141B"/>
                </a:solidFill>
                <a:latin typeface="Arial"/>
              </a:rPr>
              <a:t>Node.js</a:t>
            </a:r>
            <a:endParaRPr/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0F141B"/>
                </a:solidFill>
                <a:latin typeface="Arial"/>
              </a:rPr>
              <a:t>API REST /api/v1</a:t>
            </a:r>
          </a:p>
        </p:txBody>
      </p:sp>
      <p:sp>
        <p:nvSpPr>
          <p:cNvPr id="223" name="Google Shape;223;p8"/>
          <p:cNvSpPr/>
          <p:nvPr/>
        </p:nvSpPr>
        <p:spPr>
          <a:xfrm>
            <a:off x="8284464" y="2587752"/>
            <a:ext cx="324612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8467344" y="2734056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F3D62"/>
                </a:solidFill>
                <a:latin typeface="Arial"/>
                <a:ea typeface="Arial"/>
                <a:cs typeface="Arial"/>
                <a:sym typeface="Arial"/>
              </a:rPr>
              <a:t>PERSISTENCIA</a:t>
            </a:r>
            <a:endParaRPr/>
          </a:p>
        </p:txBody>
      </p:sp>
      <p:sp>
        <p:nvSpPr>
          <p:cNvPr id="225" name="Google Shape;225;p8"/>
          <p:cNvSpPr txBox="1"/>
          <p:nvPr/>
        </p:nvSpPr>
        <p:spPr>
          <a:xfrm>
            <a:off x="8467344" y="3182112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0F141B"/>
                </a:solidFill>
                <a:latin typeface="Arial"/>
              </a:rPr>
              <a:t>PostgreSQL</a:t>
            </a:r>
            <a:endParaRPr/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0F141B"/>
                </a:solidFill>
                <a:latin typeface="Arial"/>
              </a:rPr>
              <a:t>entorno local MVP</a:t>
            </a:r>
          </a:p>
        </p:txBody>
      </p:sp>
      <p:sp>
        <p:nvSpPr>
          <p:cNvPr id="226" name="Google Shape;226;p8"/>
          <p:cNvSpPr txBox="1"/>
          <p:nvPr/>
        </p:nvSpPr>
        <p:spPr>
          <a:xfrm>
            <a:off x="3931920" y="2935224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4B7BB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27" name="Google Shape;227;p8"/>
          <p:cNvSpPr txBox="1"/>
          <p:nvPr/>
        </p:nvSpPr>
        <p:spPr>
          <a:xfrm>
            <a:off x="7754112" y="2935224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4B7BB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658368" y="4389120"/>
            <a:ext cx="3517392" cy="1234440"/>
          </a:xfrm>
          <a:prstGeom prst="roundRect">
            <a:avLst>
              <a:gd fmla="val 16667" name="adj"/>
            </a:avLst>
          </a:prstGeom>
          <a:solidFill>
            <a:srgbClr val="EEF6FF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 txBox="1"/>
          <p:nvPr/>
        </p:nvSpPr>
        <p:spPr>
          <a:xfrm>
            <a:off x="749808" y="4526280"/>
            <a:ext cx="3334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F3D62"/>
                </a:solidFill>
                <a:latin typeface="Arial"/>
              </a:rPr>
              <a:t>Identidad</a:t>
            </a:r>
            <a:endParaRPr/>
          </a:p>
        </p:txBody>
      </p:sp>
      <p:sp>
        <p:nvSpPr>
          <p:cNvPr id="230" name="Google Shape;230;p8"/>
          <p:cNvSpPr txBox="1"/>
          <p:nvPr/>
        </p:nvSpPr>
        <p:spPr>
          <a:xfrm>
            <a:off x="749808" y="4928616"/>
            <a:ext cx="33345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0F141B"/>
                </a:solidFill>
                <a:latin typeface="Arial"/>
              </a:rPr>
              <a:t>Registro / login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41B"/>
                </a:solidFill>
                <a:latin typeface="Arial"/>
              </a:rPr>
              <a:t>base implementada</a:t>
            </a:r>
          </a:p>
        </p:txBody>
      </p:sp>
      <p:sp>
        <p:nvSpPr>
          <p:cNvPr id="231" name="Google Shape;231;p8"/>
          <p:cNvSpPr/>
          <p:nvPr/>
        </p:nvSpPr>
        <p:spPr>
          <a:xfrm>
            <a:off x="4340352" y="4389120"/>
            <a:ext cx="3517392" cy="1234440"/>
          </a:xfrm>
          <a:prstGeom prst="roundRect">
            <a:avLst>
              <a:gd fmla="val 16667" name="adj"/>
            </a:avLst>
          </a:prstGeom>
          <a:solidFill>
            <a:srgbClr val="EEF6FF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 txBox="1"/>
          <p:nvPr/>
        </p:nvSpPr>
        <p:spPr>
          <a:xfrm>
            <a:off x="4431792" y="4526280"/>
            <a:ext cx="3334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F3D62"/>
                </a:solidFill>
                <a:latin typeface="Arial"/>
              </a:rPr>
              <a:t>Sincronización</a:t>
            </a:r>
            <a:endParaRPr/>
          </a:p>
        </p:txBody>
      </p:sp>
      <p:sp>
        <p:nvSpPr>
          <p:cNvPr id="233" name="Google Shape;233;p8"/>
          <p:cNvSpPr txBox="1"/>
          <p:nvPr/>
        </p:nvSpPr>
        <p:spPr>
          <a:xfrm>
            <a:off x="4431792" y="4928616"/>
            <a:ext cx="33345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0F141B"/>
                </a:solidFill>
                <a:latin typeface="Arial"/>
              </a:rPr>
              <a:t>App ↔ API ↔ BD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41B"/>
                </a:solidFill>
                <a:latin typeface="Arial"/>
              </a:rPr>
              <a:t>flujo en integración</a:t>
            </a:r>
          </a:p>
        </p:txBody>
      </p:sp>
      <p:sp>
        <p:nvSpPr>
          <p:cNvPr id="234" name="Google Shape;234;p8"/>
          <p:cNvSpPr/>
          <p:nvPr/>
        </p:nvSpPr>
        <p:spPr>
          <a:xfrm>
            <a:off x="8022336" y="4389120"/>
            <a:ext cx="3517392" cy="1234440"/>
          </a:xfrm>
          <a:prstGeom prst="roundRect">
            <a:avLst>
              <a:gd fmla="val 16667" name="adj"/>
            </a:avLst>
          </a:prstGeom>
          <a:solidFill>
            <a:srgbClr val="EEF6FF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 txBox="1"/>
          <p:nvPr/>
        </p:nvSpPr>
        <p:spPr>
          <a:xfrm>
            <a:off x="8113776" y="4526280"/>
            <a:ext cx="3334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F3D62"/>
                </a:solidFill>
                <a:latin typeface="Arial"/>
              </a:rPr>
              <a:t>Infraestructura</a:t>
            </a:r>
            <a:endParaRPr/>
          </a:p>
        </p:txBody>
      </p:sp>
      <p:sp>
        <p:nvSpPr>
          <p:cNvPr id="236" name="Google Shape;236;p8"/>
          <p:cNvSpPr txBox="1"/>
          <p:nvPr/>
        </p:nvSpPr>
        <p:spPr>
          <a:xfrm>
            <a:off x="8113776" y="4928616"/>
            <a:ext cx="33345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0F141B"/>
                </a:solidFill>
                <a:latin typeface="Arial"/>
              </a:rPr>
              <a:t>Docker + cloud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141B"/>
                </a:solidFill>
                <a:latin typeface="Arial"/>
              </a:rPr>
              <a:t>etapa posterior</a:t>
            </a:r>
          </a:p>
        </p:txBody>
      </p:sp>
      <p:sp>
        <p:nvSpPr>
          <p:cNvPr id="237" name="Google Shape;237;p8"/>
          <p:cNvSpPr txBox="1"/>
          <p:nvPr/>
        </p:nvSpPr>
        <p:spPr>
          <a:xfrm>
            <a:off x="914400" y="6153912"/>
            <a:ext cx="10332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1E232C"/>
                </a:solidFill>
                <a:latin typeface="Arial"/>
              </a:rPr>
              <a:t>Objetivo: React Native/Expo; demo actual: React + Capacitor. Hito 1: cerrar flujo app → API → PostgreSQL.</a:t>
            </a:r>
            <a:endParaRPr/>
          </a:p>
        </p:txBody>
      </p:sp>
      <p:sp>
        <p:nvSpPr>
          <p:cNvPr id="238" name="Google Shape;238;p8"/>
          <p:cNvSpPr txBox="1"/>
          <p:nvPr/>
        </p:nvSpPr>
        <p:spPr>
          <a:xfrm>
            <a:off x="777240" y="6437376"/>
            <a:ext cx="10789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4B5665"/>
                </a:solidFill>
                <a:latin typeface="Arial"/>
              </a:rPr>
              <a:t>Fuente de estado: Jira, prototipo/demo y documentación técnica del proyecto.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43" name="Google Shape;24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“HYTRO PRECISION”</a:t>
            </a:r>
            <a:endParaRPr/>
          </a:p>
        </p:txBody>
      </p:sp>
      <p:cxnSp>
        <p:nvCxnSpPr>
          <p:cNvPr id="245" name="Google Shape;245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46" name="Google Shape;246;p9"/>
          <p:cNvSpPr txBox="1"/>
          <p:nvPr/>
        </p:nvSpPr>
        <p:spPr>
          <a:xfrm>
            <a:off x="457200" y="1225296"/>
            <a:ext cx="112928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0F141B"/>
                </a:solidFill>
                <a:latin typeface="Arial"/>
                <a:ea typeface="Arial"/>
                <a:cs typeface="Arial"/>
                <a:sym typeface="Arial"/>
              </a:rPr>
              <a:t>Modelo de datos</a:t>
            </a:r>
            <a:endParaRPr/>
          </a:p>
        </p:txBody>
      </p:sp>
      <p:sp>
        <p:nvSpPr>
          <p:cNvPr id="247" name="Google Shape;247;p9"/>
          <p:cNvSpPr txBox="1"/>
          <p:nvPr/>
        </p:nvSpPr>
        <p:spPr>
          <a:xfrm>
            <a:off x="777240" y="1865376"/>
            <a:ext cx="106070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1E232C"/>
                </a:solidFill>
                <a:latin typeface="Arial"/>
              </a:rPr>
              <a:t>Modelo funcional propuesto para la persistencia PostgreSQL del MVP.</a:t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713232" y="2441448"/>
            <a:ext cx="3611880" cy="1261872"/>
          </a:xfrm>
          <a:prstGeom prst="roundRect">
            <a:avLst>
              <a:gd fmla="val 16667" name="adj"/>
            </a:avLst>
          </a:prstGeom>
          <a:solidFill>
            <a:srgbClr val="EEF6FF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 txBox="1"/>
          <p:nvPr/>
        </p:nvSpPr>
        <p:spPr>
          <a:xfrm>
            <a:off x="832104" y="2578608"/>
            <a:ext cx="3337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F3D62"/>
                </a:solidFill>
                <a:latin typeface="Arial"/>
              </a:rPr>
              <a:t>users</a:t>
            </a:r>
            <a:endParaRPr/>
          </a:p>
        </p:txBody>
      </p:sp>
      <p:sp>
        <p:nvSpPr>
          <p:cNvPr id="250" name="Google Shape;250;p9"/>
          <p:cNvSpPr txBox="1"/>
          <p:nvPr/>
        </p:nvSpPr>
        <p:spPr>
          <a:xfrm>
            <a:off x="832104" y="3072384"/>
            <a:ext cx="333756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0F141B"/>
                </a:solidFill>
                <a:latin typeface="Arial"/>
              </a:rPr>
              <a:t>id · email · auth · client_id</a:t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4553712" y="2441448"/>
            <a:ext cx="3611880" cy="1261872"/>
          </a:xfrm>
          <a:prstGeom prst="roundRect">
            <a:avLst>
              <a:gd fmla="val 16667" name="adj"/>
            </a:avLst>
          </a:prstGeom>
          <a:solidFill>
            <a:srgbClr val="EEF6FF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 txBox="1"/>
          <p:nvPr/>
        </p:nvSpPr>
        <p:spPr>
          <a:xfrm>
            <a:off x="4672584" y="2578608"/>
            <a:ext cx="3337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F3D62"/>
                </a:solidFill>
                <a:latin typeface="Arial"/>
              </a:rPr>
              <a:t>physical_profiles</a:t>
            </a:r>
            <a:endParaRPr/>
          </a:p>
        </p:txBody>
      </p:sp>
      <p:sp>
        <p:nvSpPr>
          <p:cNvPr id="253" name="Google Shape;253;p9"/>
          <p:cNvSpPr txBox="1"/>
          <p:nvPr/>
        </p:nvSpPr>
        <p:spPr>
          <a:xfrm>
            <a:off x="4672584" y="3072384"/>
            <a:ext cx="333756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0F141B"/>
                </a:solidFill>
                <a:latin typeface="Arial"/>
              </a:rPr>
              <a:t>peso · altura · circunferencias</a:t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8394192" y="2441448"/>
            <a:ext cx="3611880" cy="1261872"/>
          </a:xfrm>
          <a:prstGeom prst="roundRect">
            <a:avLst>
              <a:gd fmla="val 16667" name="adj"/>
            </a:avLst>
          </a:prstGeom>
          <a:solidFill>
            <a:srgbClr val="EEF6FF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 txBox="1"/>
          <p:nvPr/>
        </p:nvSpPr>
        <p:spPr>
          <a:xfrm>
            <a:off x="8513064" y="2578608"/>
            <a:ext cx="3337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F3D62"/>
                </a:solidFill>
                <a:latin typeface="Arial"/>
              </a:rPr>
              <a:t>medical_screenings</a:t>
            </a:r>
            <a:endParaRPr/>
          </a:p>
        </p:txBody>
      </p:sp>
      <p:sp>
        <p:nvSpPr>
          <p:cNvPr id="256" name="Google Shape;256;p9"/>
          <p:cNvSpPr txBox="1"/>
          <p:nvPr/>
        </p:nvSpPr>
        <p:spPr>
          <a:xfrm>
            <a:off x="8513064" y="3072384"/>
            <a:ext cx="333756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0F141B"/>
                </a:solidFill>
                <a:latin typeface="Arial"/>
              </a:rPr>
              <a:t>contraindicaciones · cleared</a:t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713232" y="3950208"/>
            <a:ext cx="3611880" cy="1261872"/>
          </a:xfrm>
          <a:prstGeom prst="roundRect">
            <a:avLst>
              <a:gd fmla="val 16667" name="adj"/>
            </a:avLst>
          </a:prstGeom>
          <a:solidFill>
            <a:srgbClr val="EEF6FF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 txBox="1"/>
          <p:nvPr/>
        </p:nvSpPr>
        <p:spPr>
          <a:xfrm>
            <a:off x="832104" y="4087368"/>
            <a:ext cx="3337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F3D62"/>
                </a:solidFill>
                <a:latin typeface="Arial"/>
              </a:rPr>
              <a:t>training_goals</a:t>
            </a:r>
            <a:endParaRPr/>
          </a:p>
        </p:txBody>
      </p:sp>
      <p:sp>
        <p:nvSpPr>
          <p:cNvPr id="259" name="Google Shape;259;p9"/>
          <p:cNvSpPr txBox="1"/>
          <p:nvPr/>
        </p:nvSpPr>
        <p:spPr>
          <a:xfrm>
            <a:off x="832104" y="4581144"/>
            <a:ext cx="333756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0F141B"/>
                </a:solidFill>
                <a:latin typeface="Arial"/>
              </a:rPr>
              <a:t>arquetipo · meta · sesiones</a:t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4553712" y="3950208"/>
            <a:ext cx="3611880" cy="1261872"/>
          </a:xfrm>
          <a:prstGeom prst="roundRect">
            <a:avLst>
              <a:gd fmla="val 16667" name="adj"/>
            </a:avLst>
          </a:prstGeom>
          <a:solidFill>
            <a:srgbClr val="EEF6FF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 txBox="1"/>
          <p:nvPr/>
        </p:nvSpPr>
        <p:spPr>
          <a:xfrm>
            <a:off x="4672584" y="4087368"/>
            <a:ext cx="3337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F3D62"/>
                </a:solidFill>
                <a:latin typeface="Arial"/>
              </a:rPr>
              <a:t>workout_sessions</a:t>
            </a:r>
            <a:endParaRPr/>
          </a:p>
        </p:txBody>
      </p:sp>
      <p:sp>
        <p:nvSpPr>
          <p:cNvPr id="262" name="Google Shape;262;p9"/>
          <p:cNvSpPr txBox="1"/>
          <p:nvPr/>
        </p:nvSpPr>
        <p:spPr>
          <a:xfrm>
            <a:off x="4672584" y="4581144"/>
            <a:ext cx="333756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0F141B"/>
                </a:solidFill>
                <a:latin typeface="Arial"/>
              </a:rPr>
              <a:t>duración · reps · métricas</a:t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8394192" y="3950208"/>
            <a:ext cx="3611880" cy="1261872"/>
          </a:xfrm>
          <a:prstGeom prst="roundRect">
            <a:avLst>
              <a:gd fmla="val 16667" name="adj"/>
            </a:avLst>
          </a:prstGeom>
          <a:solidFill>
            <a:srgbClr val="EEF6FF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8513064" y="4087368"/>
            <a:ext cx="3337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F3D62"/>
                </a:solidFill>
                <a:latin typeface="Arial"/>
              </a:rPr>
              <a:t>cuff_checks</a:t>
            </a:r>
            <a:endParaRPr/>
          </a:p>
        </p:txBody>
      </p:sp>
      <p:sp>
        <p:nvSpPr>
          <p:cNvPr id="265" name="Google Shape;265;p9"/>
          <p:cNvSpPr txBox="1"/>
          <p:nvPr/>
        </p:nvSpPr>
        <p:spPr>
          <a:xfrm>
            <a:off x="8513064" y="4581144"/>
            <a:ext cx="333756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0F141B"/>
                </a:solidFill>
                <a:latin typeface="Arial"/>
              </a:rPr>
              <a:t>extremidad · método · resultado</a:t>
            </a:r>
            <a:endParaRPr/>
          </a:p>
        </p:txBody>
      </p:sp>
      <p:sp>
        <p:nvSpPr>
          <p:cNvPr id="266" name="Google Shape;266;p9"/>
          <p:cNvSpPr txBox="1"/>
          <p:nvPr/>
        </p:nvSpPr>
        <p:spPr>
          <a:xfrm>
            <a:off x="886968" y="5824728"/>
            <a:ext cx="10515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1E232C"/>
                </a:solidFill>
                <a:latin typeface="Arial"/>
              </a:rPr>
              <a:t>Los registros mutables contemplan trazabilidad (created_at/updated_at). Cuff Check considera idempotencia para evitar duplicados; no se almacena video por defecto.</a:t>
            </a:r>
            <a:endParaRPr/>
          </a:p>
        </p:txBody>
      </p:sp>
      <p:sp>
        <p:nvSpPr>
          <p:cNvPr id="267" name="Google Shape;267;p9"/>
          <p:cNvSpPr txBox="1"/>
          <p:nvPr/>
        </p:nvSpPr>
        <p:spPr>
          <a:xfrm>
            <a:off x="777240" y="6437376"/>
            <a:ext cx="10789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4B5665"/>
                </a:solidFill>
                <a:latin typeface="Arial"/>
              </a:rPr>
              <a:t>Modelo orientado al MVP; se ajustará según contratos finales de API e integración.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72" name="Google Shape;27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“HYTRO PRECISION”</a:t>
            </a:r>
            <a:endParaRPr/>
          </a:p>
        </p:txBody>
      </p:sp>
      <p:cxnSp>
        <p:nvCxnSpPr>
          <p:cNvPr id="274" name="Google Shape;274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75" name="Google Shape;275;p10"/>
          <p:cNvSpPr txBox="1"/>
          <p:nvPr/>
        </p:nvSpPr>
        <p:spPr>
          <a:xfrm>
            <a:off x="457200" y="1225296"/>
            <a:ext cx="112928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0F141B"/>
                </a:solidFill>
                <a:latin typeface="Arial"/>
                <a:ea typeface="Arial"/>
                <a:cs typeface="Arial"/>
                <a:sym typeface="Arial"/>
              </a:rPr>
              <a:t>Tecnologías utilizadas</a:t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704088" y="2468880"/>
            <a:ext cx="3621024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 txBox="1"/>
          <p:nvPr/>
        </p:nvSpPr>
        <p:spPr>
          <a:xfrm>
            <a:off x="886968" y="2615184"/>
            <a:ext cx="32552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F3D62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/>
          </a:p>
        </p:txBody>
      </p:sp>
      <p:sp>
        <p:nvSpPr>
          <p:cNvPr id="278" name="Google Shape;278;p10"/>
          <p:cNvSpPr txBox="1"/>
          <p:nvPr/>
        </p:nvSpPr>
        <p:spPr>
          <a:xfrm>
            <a:off x="886968" y="3063240"/>
            <a:ext cx="325526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0F141B"/>
                </a:solidFill>
                <a:latin typeface="Arial"/>
              </a:rPr>
              <a:t>React + TypeScript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41B"/>
                </a:solidFill>
                <a:latin typeface="Arial"/>
              </a:rPr>
              <a:t>versión demostrable</a:t>
            </a:r>
          </a:p>
        </p:txBody>
      </p:sp>
      <p:sp>
        <p:nvSpPr>
          <p:cNvPr id="279" name="Google Shape;279;p10"/>
          <p:cNvSpPr/>
          <p:nvPr/>
        </p:nvSpPr>
        <p:spPr>
          <a:xfrm>
            <a:off x="4562856" y="2468880"/>
            <a:ext cx="3621024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 txBox="1"/>
          <p:nvPr/>
        </p:nvSpPr>
        <p:spPr>
          <a:xfrm>
            <a:off x="4745736" y="2615184"/>
            <a:ext cx="32552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F3D62"/>
                </a:solidFill>
                <a:latin typeface="Arial"/>
                <a:ea typeface="Arial"/>
                <a:cs typeface="Arial"/>
                <a:sym typeface="Arial"/>
              </a:rPr>
              <a:t>Diseño</a:t>
            </a:r>
            <a:endParaRPr/>
          </a:p>
        </p:txBody>
      </p:sp>
      <p:sp>
        <p:nvSpPr>
          <p:cNvPr id="281" name="Google Shape;281;p10"/>
          <p:cNvSpPr txBox="1"/>
          <p:nvPr/>
        </p:nvSpPr>
        <p:spPr>
          <a:xfrm>
            <a:off x="4745736" y="3063240"/>
            <a:ext cx="325526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0F141B"/>
                </a:solidFill>
                <a:latin typeface="Arial"/>
              </a:rPr>
              <a:t>Figma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41B"/>
                </a:solidFill>
                <a:latin typeface="Arial"/>
              </a:rPr>
              <a:t>UI/UX</a:t>
            </a:r>
          </a:p>
        </p:txBody>
      </p:sp>
      <p:sp>
        <p:nvSpPr>
          <p:cNvPr id="282" name="Google Shape;282;p10"/>
          <p:cNvSpPr/>
          <p:nvPr/>
        </p:nvSpPr>
        <p:spPr>
          <a:xfrm>
            <a:off x="8421624" y="2468880"/>
            <a:ext cx="3621024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 txBox="1"/>
          <p:nvPr/>
        </p:nvSpPr>
        <p:spPr>
          <a:xfrm>
            <a:off x="8604503" y="2615184"/>
            <a:ext cx="32552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F3D62"/>
                </a:solidFill>
                <a:latin typeface="Arial"/>
                <a:ea typeface="Arial"/>
                <a:cs typeface="Arial"/>
                <a:sym typeface="Arial"/>
              </a:rPr>
              <a:t>Android</a:t>
            </a:r>
            <a:endParaRPr/>
          </a:p>
        </p:txBody>
      </p:sp>
      <p:sp>
        <p:nvSpPr>
          <p:cNvPr id="284" name="Google Shape;284;p10"/>
          <p:cNvSpPr txBox="1"/>
          <p:nvPr/>
        </p:nvSpPr>
        <p:spPr>
          <a:xfrm>
            <a:off x="8604503" y="3063240"/>
            <a:ext cx="325526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0F141B"/>
                </a:solidFill>
                <a:latin typeface="Arial"/>
              </a:rPr>
              <a:t>Capacitor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41B"/>
                </a:solidFill>
                <a:latin typeface="Arial"/>
              </a:rPr>
              <a:t>APK</a:t>
            </a:r>
          </a:p>
        </p:txBody>
      </p:sp>
      <p:sp>
        <p:nvSpPr>
          <p:cNvPr id="285" name="Google Shape;285;p10"/>
          <p:cNvSpPr/>
          <p:nvPr/>
        </p:nvSpPr>
        <p:spPr>
          <a:xfrm>
            <a:off x="704088" y="4114800"/>
            <a:ext cx="3621024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 txBox="1"/>
          <p:nvPr/>
        </p:nvSpPr>
        <p:spPr>
          <a:xfrm>
            <a:off x="886968" y="4261104"/>
            <a:ext cx="32552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F3D62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/>
          </a:p>
        </p:txBody>
      </p:sp>
      <p:sp>
        <p:nvSpPr>
          <p:cNvPr id="287" name="Google Shape;287;p10"/>
          <p:cNvSpPr txBox="1"/>
          <p:nvPr/>
        </p:nvSpPr>
        <p:spPr>
          <a:xfrm>
            <a:off x="886968" y="4709160"/>
            <a:ext cx="325526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0F141B"/>
                </a:solidFill>
                <a:latin typeface="Arial"/>
              </a:rPr>
              <a:t>Node.js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41B"/>
                </a:solidFill>
                <a:latin typeface="Arial"/>
              </a:rPr>
              <a:t>API REST</a:t>
            </a:r>
          </a:p>
        </p:txBody>
      </p:sp>
      <p:sp>
        <p:nvSpPr>
          <p:cNvPr id="288" name="Google Shape;288;p10"/>
          <p:cNvSpPr/>
          <p:nvPr/>
        </p:nvSpPr>
        <p:spPr>
          <a:xfrm>
            <a:off x="4562856" y="4114800"/>
            <a:ext cx="3621024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 txBox="1"/>
          <p:nvPr/>
        </p:nvSpPr>
        <p:spPr>
          <a:xfrm>
            <a:off x="4745736" y="4261104"/>
            <a:ext cx="32552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F3D62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/>
          </a:p>
        </p:txBody>
      </p:sp>
      <p:sp>
        <p:nvSpPr>
          <p:cNvPr id="290" name="Google Shape;290;p10"/>
          <p:cNvSpPr txBox="1"/>
          <p:nvPr/>
        </p:nvSpPr>
        <p:spPr>
          <a:xfrm>
            <a:off x="4745736" y="4709160"/>
            <a:ext cx="325526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0F141B"/>
                </a:solidFill>
                <a:latin typeface="Arial"/>
              </a:rPr>
              <a:t>PostgreSQL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41B"/>
                </a:solidFill>
                <a:latin typeface="Arial"/>
              </a:rPr>
              <a:t>local MVP</a:t>
            </a:r>
          </a:p>
        </p:txBody>
      </p:sp>
      <p:sp>
        <p:nvSpPr>
          <p:cNvPr id="291" name="Google Shape;291;p10"/>
          <p:cNvSpPr/>
          <p:nvPr/>
        </p:nvSpPr>
        <p:spPr>
          <a:xfrm>
            <a:off x="8421624" y="4114800"/>
            <a:ext cx="3621024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 txBox="1"/>
          <p:nvPr/>
        </p:nvSpPr>
        <p:spPr>
          <a:xfrm>
            <a:off x="8604503" y="4261104"/>
            <a:ext cx="32552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F3D62"/>
                </a:solidFill>
                <a:latin typeface="Arial"/>
                <a:ea typeface="Arial"/>
                <a:cs typeface="Arial"/>
                <a:sym typeface="Arial"/>
              </a:rPr>
              <a:t>Infraestructura</a:t>
            </a:r>
            <a:endParaRPr/>
          </a:p>
        </p:txBody>
      </p:sp>
      <p:sp>
        <p:nvSpPr>
          <p:cNvPr id="293" name="Google Shape;293;p10"/>
          <p:cNvSpPr txBox="1"/>
          <p:nvPr/>
        </p:nvSpPr>
        <p:spPr>
          <a:xfrm>
            <a:off x="8604503" y="4709160"/>
            <a:ext cx="325526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0F141B"/>
                </a:solidFill>
                <a:latin typeface="Arial"/>
              </a:rPr>
              <a:t>Docker, Git y Jira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41B"/>
                </a:solidFill>
                <a:latin typeface="Arial"/>
              </a:rPr>
              <a:t>cloud posterior</a:t>
            </a:r>
          </a:p>
        </p:txBody>
      </p:sp>
      <p:sp>
        <p:nvSpPr>
          <p:cNvPr id="294" name="Google Shape;294;p10"/>
          <p:cNvSpPr txBox="1"/>
          <p:nvPr/>
        </p:nvSpPr>
        <p:spPr>
          <a:xfrm>
            <a:off x="685800" y="5907024"/>
            <a:ext cx="1078992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chemeClr val="dk1"/>
                </a:solidFill>
                <a:latin typeface="Arial"/>
              </a:rPr>
              <a:t>Pose Estimation: MediaPipe/ML Kit evaluados en Spike. Development Plan v2 mantiene React Native/Expo como referencia; la demo actual usa React + Capacitor.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99" name="Google Shape;29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1"/>
          <p:cNvSpPr txBox="1"/>
          <p:nvPr/>
        </p:nvSpPr>
        <p:spPr>
          <a:xfrm>
            <a:off x="328095" y="1403602"/>
            <a:ext cx="111558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000">
                <a:solidFill>
                  <a:srgbClr val="0F141B"/>
                </a:solidFill>
                <a:latin typeface="Arial"/>
                <a:ea typeface="Arial"/>
                <a:cs typeface="Arial"/>
                <a:sym typeface="Arial"/>
              </a:rPr>
              <a:t>DEMOSTRACIÓN DEL RESULTADO DEL PROYECTO</a:t>
            </a:r>
            <a:endParaRPr/>
          </a:p>
        </p:txBody>
      </p:sp>
      <p:sp>
        <p:nvSpPr>
          <p:cNvPr id="301" name="Google Shape;301;p11"/>
          <p:cNvSpPr txBox="1"/>
          <p:nvPr/>
        </p:nvSpPr>
        <p:spPr>
          <a:xfrm>
            <a:off x="739575" y="2180842"/>
            <a:ext cx="1033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F3F6C"/>
                </a:solidFill>
              </a:rPr>
              <a:t>GUIÓN DE DEMOSTRACIÓN · ESTADO ACTUAL DEL MVP</a:t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574983" y="2692906"/>
            <a:ext cx="3621000" cy="1481400"/>
          </a:xfrm>
          <a:prstGeom prst="roundRect">
            <a:avLst>
              <a:gd fmla="val 16667" name="adj"/>
            </a:avLst>
          </a:prstGeom>
          <a:solidFill>
            <a:srgbClr val="F7FAFE"/>
          </a:solidFill>
          <a:ln cap="flat" cmpd="sng" w="9525">
            <a:solidFill>
              <a:srgbClr val="4473B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 txBox="1"/>
          <p:nvPr/>
        </p:nvSpPr>
        <p:spPr>
          <a:xfrm>
            <a:off x="739575" y="2866641"/>
            <a:ext cx="331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F3F6C"/>
                </a:solidFill>
                <a:latin typeface="Arial"/>
                <a:ea typeface="Arial"/>
                <a:cs typeface="Arial"/>
                <a:sym typeface="Arial"/>
              </a:rPr>
              <a:t>01 · APLICACIÓN</a:t>
            </a:r>
            <a:endParaRPr/>
          </a:p>
        </p:txBody>
      </p:sp>
      <p:sp>
        <p:nvSpPr>
          <p:cNvPr id="304" name="Google Shape;304;p11"/>
          <p:cNvSpPr txBox="1"/>
          <p:nvPr/>
        </p:nvSpPr>
        <p:spPr>
          <a:xfrm>
            <a:off x="739575" y="3296410"/>
            <a:ext cx="331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4B5665"/>
                </a:solidFill>
                <a:latin typeface="Arial"/>
              </a:rPr>
              <a:t>Onboarding, perfil y screening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B5665"/>
                </a:solidFill>
                <a:latin typeface="Arial"/>
              </a:rPr>
              <a:t>Home y Body Map</a:t>
            </a:r>
          </a:p>
        </p:txBody>
      </p:sp>
      <p:sp>
        <p:nvSpPr>
          <p:cNvPr id="305" name="Google Shape;305;p11"/>
          <p:cNvSpPr/>
          <p:nvPr/>
        </p:nvSpPr>
        <p:spPr>
          <a:xfrm>
            <a:off x="4433751" y="2692906"/>
            <a:ext cx="3621000" cy="1481400"/>
          </a:xfrm>
          <a:prstGeom prst="roundRect">
            <a:avLst>
              <a:gd fmla="val 16667" name="adj"/>
            </a:avLst>
          </a:prstGeom>
          <a:solidFill>
            <a:srgbClr val="F7FAFE"/>
          </a:solidFill>
          <a:ln cap="flat" cmpd="sng" w="9525">
            <a:solidFill>
              <a:srgbClr val="4473B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 txBox="1"/>
          <p:nvPr/>
        </p:nvSpPr>
        <p:spPr>
          <a:xfrm>
            <a:off x="4598343" y="2866641"/>
            <a:ext cx="331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F3F6C"/>
                </a:solidFill>
                <a:latin typeface="Arial"/>
                <a:ea typeface="Arial"/>
                <a:cs typeface="Arial"/>
                <a:sym typeface="Arial"/>
              </a:rPr>
              <a:t>02 · FLUJO BFR</a:t>
            </a:r>
            <a:endParaRPr/>
          </a:p>
        </p:txBody>
      </p:sp>
      <p:sp>
        <p:nvSpPr>
          <p:cNvPr id="307" name="Google Shape;307;p11"/>
          <p:cNvSpPr txBox="1"/>
          <p:nvPr/>
        </p:nvSpPr>
        <p:spPr>
          <a:xfrm>
            <a:off x="4598343" y="3296410"/>
            <a:ext cx="331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4B5665"/>
                </a:solidFill>
                <a:latin typeface="Arial"/>
              </a:rPr>
              <a:t>Cuff Check, zona proximal y CRT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B5665"/>
                </a:solidFill>
                <a:latin typeface="Arial"/>
              </a:rPr>
              <a:t>LOP, entrenamiento y progreso</a:t>
            </a:r>
          </a:p>
        </p:txBody>
      </p:sp>
      <p:sp>
        <p:nvSpPr>
          <p:cNvPr id="308" name="Google Shape;308;p11"/>
          <p:cNvSpPr/>
          <p:nvPr/>
        </p:nvSpPr>
        <p:spPr>
          <a:xfrm>
            <a:off x="8292519" y="2692906"/>
            <a:ext cx="3621000" cy="1481400"/>
          </a:xfrm>
          <a:prstGeom prst="roundRect">
            <a:avLst>
              <a:gd fmla="val 16667" name="adj"/>
            </a:avLst>
          </a:prstGeom>
          <a:solidFill>
            <a:srgbClr val="F7FAFE"/>
          </a:solidFill>
          <a:ln cap="flat" cmpd="sng" w="9525">
            <a:solidFill>
              <a:srgbClr val="4473B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 txBox="1"/>
          <p:nvPr/>
        </p:nvSpPr>
        <p:spPr>
          <a:xfrm>
            <a:off x="8457111" y="2866641"/>
            <a:ext cx="331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F3F6C"/>
                </a:solidFill>
                <a:latin typeface="Arial"/>
                <a:ea typeface="Arial"/>
                <a:cs typeface="Arial"/>
                <a:sym typeface="Arial"/>
              </a:rPr>
              <a:t>03 · SEGURIDAD</a:t>
            </a:r>
            <a:endParaRPr/>
          </a:p>
        </p:txBody>
      </p:sp>
      <p:sp>
        <p:nvSpPr>
          <p:cNvPr id="310" name="Google Shape;310;p11"/>
          <p:cNvSpPr txBox="1"/>
          <p:nvPr/>
        </p:nvSpPr>
        <p:spPr>
          <a:xfrm>
            <a:off x="8457111" y="3296410"/>
            <a:ext cx="331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4B5665"/>
                </a:solidFill>
                <a:latin typeface="Arial"/>
              </a:rPr>
              <a:t>Bloqueo por screening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B5665"/>
                </a:solidFill>
                <a:latin typeface="Arial"/>
              </a:rPr>
              <a:t>Advertencias y límites clínicos</a:t>
            </a:r>
          </a:p>
        </p:txBody>
      </p:sp>
      <p:sp>
        <p:nvSpPr>
          <p:cNvPr id="311" name="Google Shape;311;p11"/>
          <p:cNvSpPr txBox="1"/>
          <p:nvPr/>
        </p:nvSpPr>
        <p:spPr>
          <a:xfrm>
            <a:off x="922455" y="4466842"/>
            <a:ext cx="10058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4B5665"/>
                </a:solidFill>
                <a:latin typeface="Arial"/>
              </a:rPr>
              <a:t>APK/Figma demuestran navegación y experiencia de usuario. Algunas capacidades siguen como demo/mock y no equivalen a validación clínica ni integración backend completa.</a:t>
            </a:r>
            <a:endParaRPr/>
          </a:p>
        </p:txBody>
      </p:sp>
      <p:sp>
        <p:nvSpPr>
          <p:cNvPr id="312" name="Google Shape;312;p11"/>
          <p:cNvSpPr txBox="1"/>
          <p:nvPr/>
        </p:nvSpPr>
        <p:spPr>
          <a:xfrm>
            <a:off x="602415" y="5253226"/>
            <a:ext cx="10789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4B5665"/>
                </a:solidFill>
                <a:latin typeface="Arial"/>
              </a:rPr>
              <a:t>Evidencia disponible: Jira, Figma y versión demostrable al 16-10-2026.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317" name="Google Shape;31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2"/>
          <p:cNvSpPr txBox="1"/>
          <p:nvPr/>
        </p:nvSpPr>
        <p:spPr>
          <a:xfrm>
            <a:off x="457200" y="1225296"/>
            <a:ext cx="112928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 b="0">
                <a:solidFill>
                  <a:srgbClr val="0F141B"/>
                </a:solidFill>
                <a:latin typeface="Arial"/>
              </a:rPr>
              <a:t>Resultados obtenidos a la fecha</a:t>
            </a: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640080" y="2295144"/>
            <a:ext cx="5394960" cy="35753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 txBox="1"/>
          <p:nvPr/>
        </p:nvSpPr>
        <p:spPr>
          <a:xfrm>
            <a:off x="822959" y="2498598"/>
            <a:ext cx="50292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1F3D62"/>
                </a:solidFill>
                <a:latin typeface="Arial"/>
              </a:rPr>
              <a:t>Avances verificados en Jira</a:t>
            </a:r>
            <a:endParaRPr/>
          </a:p>
        </p:txBody>
      </p:sp>
      <p:sp>
        <p:nvSpPr>
          <p:cNvPr id="321" name="Google Shape;321;p12"/>
          <p:cNvSpPr txBox="1"/>
          <p:nvPr/>
        </p:nvSpPr>
        <p:spPr>
          <a:xfrm>
            <a:off x="822959" y="3038103"/>
            <a:ext cx="5029200" cy="20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1E232C"/>
                </a:solidFill>
                <a:latin typeface="Arial"/>
              </a:rPr>
              <a:t>• Arquitectura base finalizada.</a:t>
            </a:r>
            <a:endParaRPr sz="1400">
              <a:solidFill>
                <a:srgbClr val="1E232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E232C"/>
                </a:solidFill>
                <a:latin typeface="Arial"/>
              </a:rPr>
              <a:t>• Base compartida de API/almacenamiento finalizada.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E232C"/>
                </a:solidFill>
                <a:latin typeface="Arial"/>
              </a:rPr>
              <a:t>• Registro e inicio de sesión finalizado.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E232C"/>
                </a:solidFill>
                <a:latin typeface="Arial"/>
              </a:rPr>
              <a:t>• Spike de Pose Estimation en revisión.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E232C"/>
                </a:solidFill>
                <a:latin typeface="Arial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E232C"/>
                </a:solidFill>
                <a:latin typeface="Arial"/>
              </a:rPr>
              <a:t>• Backlog y Release Plan estructurados.</a:t>
            </a:r>
          </a:p>
        </p:txBody>
      </p:sp>
      <p:sp>
        <p:nvSpPr>
          <p:cNvPr id="322" name="Google Shape;322;p12"/>
          <p:cNvSpPr/>
          <p:nvPr/>
        </p:nvSpPr>
        <p:spPr>
          <a:xfrm>
            <a:off x="6208776" y="2295144"/>
            <a:ext cx="5394960" cy="35753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 txBox="1"/>
          <p:nvPr/>
        </p:nvSpPr>
        <p:spPr>
          <a:xfrm>
            <a:off x="6391656" y="244144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1F3D62"/>
                </a:solidFill>
                <a:latin typeface="Arial"/>
              </a:rPr>
              <a:t>Evidencia funcional actual</a:t>
            </a:r>
            <a:endParaRPr/>
          </a:p>
        </p:txBody>
      </p:sp>
      <p:sp>
        <p:nvSpPr>
          <p:cNvPr id="324" name="Google Shape;324;p12"/>
          <p:cNvSpPr txBox="1"/>
          <p:nvPr/>
        </p:nvSpPr>
        <p:spPr>
          <a:xfrm>
            <a:off x="6391656" y="2864903"/>
            <a:ext cx="5029200" cy="22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1E232C"/>
                </a:solidFill>
                <a:latin typeface="Arial"/>
              </a:rPr>
              <a:t>• Demo/Figma cubre onboarding, screening, metas y kit.</a:t>
            </a:r>
            <a:endParaRPr sz="1400">
              <a:solidFill>
                <a:srgbClr val="1E232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E232C"/>
                </a:solidFill>
                <a:latin typeface="Arial"/>
              </a:rPr>
              <a:t>• Home, Body Map, Cuff Check, CRT, progreso y LOP visibles.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E232C"/>
                </a:solidFill>
                <a:latin typeface="Arial"/>
              </a:rPr>
              <a:t>• Flujos de onboarding/cuff/mapa continúan en integración.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E232C"/>
                </a:solidFill>
                <a:latin typeface="Arial"/>
              </a:rPr>
              <a:t>• Docker, E2E API–BD, aceptación y transferencia siguen pendientes.</a:t>
            </a:r>
          </a:p>
        </p:txBody>
      </p:sp>
      <p:sp>
        <p:nvSpPr>
          <p:cNvPr id="325" name="Google Shape;325;p12"/>
          <p:cNvSpPr txBox="1"/>
          <p:nvPr/>
        </p:nvSpPr>
        <p:spPr>
          <a:xfrm>
            <a:off x="777240" y="6437376"/>
            <a:ext cx="10789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4B5665"/>
                </a:solidFill>
                <a:latin typeface="Arial"/>
              </a:rPr>
              <a:t>Estado de referencia: Jira y prototipo/demo al 16-10-2026.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330" name="Google Shape;33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3"/>
          <p:cNvSpPr txBox="1"/>
          <p:nvPr/>
        </p:nvSpPr>
        <p:spPr>
          <a:xfrm>
            <a:off x="457200" y="1225296"/>
            <a:ext cx="112928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0F141B"/>
                </a:solidFill>
                <a:latin typeface="Arial"/>
                <a:ea typeface="Arial"/>
                <a:cs typeface="Arial"/>
                <a:sym typeface="Arial"/>
              </a:rPr>
              <a:t>Obstáculos presentados durante el desarrollo</a:t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832104" y="2368296"/>
            <a:ext cx="10469880" cy="35021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B7B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 txBox="1"/>
          <p:nvPr/>
        </p:nvSpPr>
        <p:spPr>
          <a:xfrm>
            <a:off x="1014984" y="2548900"/>
            <a:ext cx="101040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F3D62"/>
                </a:solidFill>
                <a:latin typeface="Arial"/>
                <a:ea typeface="Arial"/>
                <a:cs typeface="Arial"/>
                <a:sym typeface="Arial"/>
              </a:rPr>
              <a:t>Desafíos técnicos y del proceso</a:t>
            </a:r>
            <a:endParaRPr/>
          </a:p>
        </p:txBody>
      </p:sp>
      <p:sp>
        <p:nvSpPr>
          <p:cNvPr id="334" name="Google Shape;334;p13"/>
          <p:cNvSpPr txBox="1"/>
          <p:nvPr/>
        </p:nvSpPr>
        <p:spPr>
          <a:xfrm>
            <a:off x="1014984" y="3122656"/>
            <a:ext cx="10104000" cy="20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1E232C"/>
                </a:solidFill>
                <a:latin typeface="Arial"/>
              </a:rPr>
              <a:t>• RIESGO: Pose Estimation y detección del cuff. MITIGACIÓN: Spike técnico + autoverificación guiada.</a:t>
            </a:r>
            <a:endParaRPr sz="1400">
              <a:solidFill>
                <a:srgbClr val="1E232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E232C"/>
                </a:solidFill>
                <a:latin typeface="Arial"/>
              </a:rPr>
              <a:t>• RETO: pasar de demo/local a flujo integrado app–API–BD. MITIGACIÓN: Hito 1 y tareas E2E específicas.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E232C"/>
                </a:solidFill>
                <a:latin typeface="Arial"/>
              </a:rPr>
              <a:t>• SEGURIDAD BFR: evitar afirmaciones clínicas no validadas. MITIGACIÓN: screening, advertencias y parámetros configurables.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E232C"/>
                </a:solidFill>
                <a:latin typeface="Arial"/>
              </a:rPr>
              <a:t>• INFRAESTRUCTURA: Docker, QA y transferencia aún pendientes. MITIGACIÓN: backlog técnico y Release Plan.</a:t>
            </a:r>
          </a:p>
        </p:txBody>
      </p:sp>
      <p:sp>
        <p:nvSpPr>
          <p:cNvPr id="335" name="Google Shape;335;p13"/>
          <p:cNvSpPr txBox="1"/>
          <p:nvPr/>
        </p:nvSpPr>
        <p:spPr>
          <a:xfrm>
            <a:off x="777240" y="6437376"/>
            <a:ext cx="10789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4B5665"/>
                </a:solidFill>
                <a:latin typeface="Arial"/>
              </a:rPr>
              <a:t>Priorización y dependencias controladas en Jira; estado de referencia al 16-10-2026.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340" name="Google Shape;34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4"/>
          <p:cNvSpPr txBox="1"/>
          <p:nvPr/>
        </p:nvSpPr>
        <p:spPr>
          <a:xfrm>
            <a:off x="640080" y="3063240"/>
            <a:ext cx="109728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640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>
                <a:solidFill>
                  <a:srgbClr val="0F141B"/>
                </a:solidFill>
                <a:latin typeface="Arial"/>
                <a:ea typeface="Arial"/>
                <a:cs typeface="Arial"/>
                <a:sym typeface="Arial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