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mo Bold" charset="1" panose="020B0704020202020204"/>
      <p:regular r:id="rId21"/>
    </p:embeddedFont>
    <p:embeddedFont>
      <p:font typeface="Arimo" charset="1" panose="020B06040202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33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Fuentes: Explicación / Contexto de Negocio Hytro Precision; Requisitos No Funcionales Hytro Precision; Especificación Técnica de Estándares Transversales y Capacidades Comerciales.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Fuente: Explicacion_Contexto_Negocio_Hytro_Precision.docx.pdf, sección 1.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Fuente: Explicacion_Contexto_Negocio_Hytro_Precision.docx.pdf, sección 1.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Fuente: Explicacion_Contexto_Negocio_Hytro_Precision.docx.pdf, sección 1.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Fuente: Explicacion_Contexto_Negocio_Hytro_Precision.docx.pdf, sección 3.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Fuente: Explicacion_Contexto_Negocio_Hytro_Precision.docx.pdf, sección 3.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Fuente: Explicacion_Contexto_Negocio_Hytro_Precision.docx.pdf, secciones 3 y 4.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Arquitectura conceptual elaborada a partir de los componentes descritos en los documentos fuente.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Fuentes: Requisitos_No_Funcionales_Hytro_Precision.docx.pdf, sección 4; Especificación Técnica..., secciones 3 y 6.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Fuente: Requisitos_No_Funcionales_Hytro_Precision.docx.pdf, secciones 2 y 5. El uptime y la latencia API se presentan como recomendaciones.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Fuentes: Especificación Técnica..., secciones 1, 2 y 5; Requisitos No Funcionales..., sección 3.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Síntesis de alcance y brechas tomadas de los tres documentos fuente. La prioridad del MVP es una propuesta para discusión con el profesor.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0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1450"/>
            <a:chOff x="0" y="0"/>
            <a:chExt cx="24384000" cy="228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25C6D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8715" y="1083945"/>
            <a:ext cx="581787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8AE6CE"/>
                </a:solidFill>
                <a:latin typeface="Arimo Bold"/>
                <a:ea typeface="Arimo Bold"/>
                <a:cs typeface="Arimo Bold"/>
                <a:sym typeface="Arimo Bold"/>
              </a:rPr>
              <a:t>HYTRO PRECISION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8715" y="1945958"/>
            <a:ext cx="10104120" cy="236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F7FAFC"/>
                </a:solidFill>
                <a:latin typeface="Arimo Bold"/>
                <a:ea typeface="Arimo Bold"/>
                <a:cs typeface="Arimo Bold"/>
                <a:sym typeface="Arimo Bold"/>
              </a:rPr>
              <a:t>Entrenamiento BFR</a:t>
            </a:r>
          </a:p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F7FAFC"/>
                </a:solidFill>
                <a:latin typeface="Arimo Bold"/>
                <a:ea typeface="Arimo Bold"/>
                <a:cs typeface="Arimo Bold"/>
                <a:sym typeface="Arimo Bold"/>
              </a:rPr>
              <a:t>guiado, medible y seguro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05865" y="4751070"/>
            <a:ext cx="9103995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C9D7E8"/>
                </a:solidFill>
                <a:latin typeface="Arimo"/>
                <a:ea typeface="Arimo"/>
                <a:cs typeface="Arimo"/>
                <a:sym typeface="Arimo"/>
              </a:rPr>
              <a:t>Aplicación móvil companion para prendas deportivas con restricción del flujo sanguíneo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144375" y="1571625"/>
            <a:ext cx="4286250" cy="6143625"/>
            <a:chOff x="0" y="0"/>
            <a:chExt cx="5715000" cy="8191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15000" cy="8191500"/>
            </a:xfrm>
            <a:custGeom>
              <a:avLst/>
              <a:gdLst/>
              <a:ahLst/>
              <a:cxnLst/>
              <a:rect r="r" b="b" t="t" l="l"/>
              <a:pathLst>
                <a:path h="8191500" w="5715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5562600" y="0"/>
                  </a:lnTo>
                  <a:cubicBezTo>
                    <a:pt x="5646801" y="0"/>
                    <a:pt x="5715000" y="68199"/>
                    <a:pt x="5715000" y="152400"/>
                  </a:cubicBezTo>
                  <a:lnTo>
                    <a:pt x="5715000" y="8039100"/>
                  </a:lnTo>
                  <a:cubicBezTo>
                    <a:pt x="5715000" y="8123301"/>
                    <a:pt x="5646801" y="8191500"/>
                    <a:pt x="5562600" y="8191500"/>
                  </a:cubicBezTo>
                  <a:lnTo>
                    <a:pt x="152400" y="8191500"/>
                  </a:lnTo>
                  <a:cubicBezTo>
                    <a:pt x="68199" y="8191500"/>
                    <a:pt x="0" y="8123301"/>
                    <a:pt x="0" y="8039100"/>
                  </a:cubicBezTo>
                  <a:close/>
                </a:path>
              </a:pathLst>
            </a:custGeom>
            <a:solidFill>
              <a:srgbClr val="172B4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644438" y="2214562"/>
            <a:ext cx="3286125" cy="4714875"/>
            <a:chOff x="0" y="0"/>
            <a:chExt cx="4381500" cy="6286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81500" cy="6286500"/>
            </a:xfrm>
            <a:custGeom>
              <a:avLst/>
              <a:gdLst/>
              <a:ahLst/>
              <a:cxnLst/>
              <a:rect r="r" b="b" t="t" l="l"/>
              <a:pathLst>
                <a:path h="6286500" w="43815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229100" y="0"/>
                  </a:lnTo>
                  <a:cubicBezTo>
                    <a:pt x="4313301" y="0"/>
                    <a:pt x="4381500" y="68199"/>
                    <a:pt x="4381500" y="152400"/>
                  </a:cubicBezTo>
                  <a:lnTo>
                    <a:pt x="4381500" y="6134100"/>
                  </a:lnTo>
                  <a:cubicBezTo>
                    <a:pt x="4381500" y="6218301"/>
                    <a:pt x="4313301" y="6286500"/>
                    <a:pt x="4229100" y="6286500"/>
                  </a:cubicBezTo>
                  <a:lnTo>
                    <a:pt x="152400" y="6286500"/>
                  </a:lnTo>
                  <a:cubicBezTo>
                    <a:pt x="68199" y="6286500"/>
                    <a:pt x="0" y="6218301"/>
                    <a:pt x="0" y="6134100"/>
                  </a:cubicBezTo>
                  <a:close/>
                </a:path>
              </a:pathLst>
            </a:custGeom>
            <a:solidFill>
              <a:srgbClr val="EDF4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215938" y="2928938"/>
            <a:ext cx="2143125" cy="257175"/>
            <a:chOff x="0" y="0"/>
            <a:chExt cx="2857500" cy="3429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57500" cy="342900"/>
            </a:xfrm>
            <a:custGeom>
              <a:avLst/>
              <a:gdLst/>
              <a:ahLst/>
              <a:cxnLst/>
              <a:rect r="r" b="b" t="t" l="l"/>
              <a:pathLst>
                <a:path h="342900" w="28575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705100" y="0"/>
                  </a:lnTo>
                  <a:cubicBezTo>
                    <a:pt x="2789301" y="0"/>
                    <a:pt x="2857500" y="68199"/>
                    <a:pt x="2857500" y="152400"/>
                  </a:cubicBezTo>
                  <a:lnTo>
                    <a:pt x="2857500" y="190500"/>
                  </a:lnTo>
                  <a:cubicBezTo>
                    <a:pt x="2857500" y="274701"/>
                    <a:pt x="2789301" y="342900"/>
                    <a:pt x="2705100" y="342900"/>
                  </a:cubicBezTo>
                  <a:lnTo>
                    <a:pt x="152400" y="342900"/>
                  </a:lnTo>
                  <a:cubicBezTo>
                    <a:pt x="68199" y="342900"/>
                    <a:pt x="0" y="274701"/>
                    <a:pt x="0" y="190500"/>
                  </a:cubicBezTo>
                  <a:close/>
                </a:path>
              </a:pathLst>
            </a:custGeom>
            <a:solidFill>
              <a:srgbClr val="2255E6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215938" y="3571875"/>
            <a:ext cx="1571625" cy="1571625"/>
            <a:chOff x="0" y="0"/>
            <a:chExt cx="2095500" cy="2095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955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20955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943100" y="0"/>
                  </a:lnTo>
                  <a:cubicBezTo>
                    <a:pt x="2027301" y="0"/>
                    <a:pt x="2095500" y="68199"/>
                    <a:pt x="2095500" y="152400"/>
                  </a:cubicBezTo>
                  <a:lnTo>
                    <a:pt x="2095500" y="1943100"/>
                  </a:lnTo>
                  <a:cubicBezTo>
                    <a:pt x="2095500" y="2027301"/>
                    <a:pt x="2027301" y="2095500"/>
                    <a:pt x="1943100" y="2095500"/>
                  </a:cubicBezTo>
                  <a:lnTo>
                    <a:pt x="152400" y="2095500"/>
                  </a:lnTo>
                  <a:cubicBezTo>
                    <a:pt x="68199" y="2095500"/>
                    <a:pt x="0" y="2027301"/>
                    <a:pt x="0" y="1943100"/>
                  </a:cubicBezTo>
                  <a:close/>
                </a:path>
              </a:pathLst>
            </a:custGeom>
            <a:solidFill>
              <a:srgbClr val="8AE6CE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307377" y="4027170"/>
            <a:ext cx="1388745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BFR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215938" y="5643562"/>
            <a:ext cx="2143125" cy="257175"/>
            <a:chOff x="0" y="0"/>
            <a:chExt cx="2857500" cy="3429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57500" cy="342900"/>
            </a:xfrm>
            <a:custGeom>
              <a:avLst/>
              <a:gdLst/>
              <a:ahLst/>
              <a:cxnLst/>
              <a:rect r="r" b="b" t="t" l="l"/>
              <a:pathLst>
                <a:path h="342900" w="28575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705100" y="0"/>
                  </a:lnTo>
                  <a:cubicBezTo>
                    <a:pt x="2789301" y="0"/>
                    <a:pt x="2857500" y="68199"/>
                    <a:pt x="2857500" y="152400"/>
                  </a:cubicBezTo>
                  <a:lnTo>
                    <a:pt x="2857500" y="190500"/>
                  </a:lnTo>
                  <a:cubicBezTo>
                    <a:pt x="2857500" y="274701"/>
                    <a:pt x="2789301" y="342900"/>
                    <a:pt x="2705100" y="342900"/>
                  </a:cubicBezTo>
                  <a:lnTo>
                    <a:pt x="152400" y="342900"/>
                  </a:lnTo>
                  <a:cubicBezTo>
                    <a:pt x="68199" y="342900"/>
                    <a:pt x="0" y="274701"/>
                    <a:pt x="0" y="190500"/>
                  </a:cubicBezTo>
                  <a:close/>
                </a:path>
              </a:pathLst>
            </a:custGeom>
            <a:solidFill>
              <a:srgbClr val="25C6DA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05865" y="8999220"/>
            <a:ext cx="696087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FB2C9"/>
                </a:solidFill>
                <a:latin typeface="Arimo"/>
                <a:ea typeface="Arimo"/>
                <a:cs typeface="Arimo"/>
                <a:sym typeface="Arimo"/>
              </a:rPr>
              <a:t>Proyecto de tesis ·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57175" cy="10287000"/>
            <a:chOff x="0" y="0"/>
            <a:chExt cx="3429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29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C6D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34415" y="588645"/>
            <a:ext cx="1524762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¿Qué es el entrenamiento BFR?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64940" y="679132"/>
            <a:ext cx="674370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627083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42975" y="1600200"/>
            <a:ext cx="16402050" cy="28575"/>
            <a:chOff x="0" y="0"/>
            <a:chExt cx="2186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69400" cy="38100"/>
            </a:xfrm>
            <a:custGeom>
              <a:avLst/>
              <a:gdLst/>
              <a:ahLst/>
              <a:cxnLst/>
              <a:rect r="r" b="b" t="t" l="l"/>
              <a:pathLst>
                <a:path h="38100" w="21869400">
                  <a:moveTo>
                    <a:pt x="0" y="0"/>
                  </a:moveTo>
                  <a:lnTo>
                    <a:pt x="21869400" y="0"/>
                  </a:lnTo>
                  <a:lnTo>
                    <a:pt x="21869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CE4ED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91565" y="2169795"/>
            <a:ext cx="15390495" cy="1142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BFR significa Blood Flow Restriction: restricción controlada del flujo sanguíneo durante el ejercicio.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71562" y="4071938"/>
            <a:ext cx="6858000" cy="3143250"/>
            <a:chOff x="0" y="0"/>
            <a:chExt cx="9144000" cy="4191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9144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8991600" y="0"/>
                  </a:lnTo>
                  <a:cubicBezTo>
                    <a:pt x="9075801" y="0"/>
                    <a:pt x="9144000" y="68199"/>
                    <a:pt x="9144000" y="152400"/>
                  </a:cubicBezTo>
                  <a:lnTo>
                    <a:pt x="9144000" y="4038600"/>
                  </a:lnTo>
                  <a:cubicBezTo>
                    <a:pt x="9144000" y="4122801"/>
                    <a:pt x="9075801" y="4191000"/>
                    <a:pt x="8991600" y="4191000"/>
                  </a:cubicBezTo>
                  <a:lnTo>
                    <a:pt x="152400" y="4191000"/>
                  </a:lnTo>
                  <a:cubicBezTo>
                    <a:pt x="68199" y="4191000"/>
                    <a:pt x="0" y="4122801"/>
                    <a:pt x="0" y="4038600"/>
                  </a:cubicBezTo>
                  <a:close/>
                </a:path>
              </a:pathLst>
            </a:custGeom>
            <a:solidFill>
              <a:srgbClr val="EDF4F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591627" y="4536757"/>
            <a:ext cx="2960370" cy="275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2255E6"/>
                </a:solidFill>
                <a:latin typeface="Arimo Bold"/>
                <a:ea typeface="Arimo Bold"/>
                <a:cs typeface="Arimo Bold"/>
                <a:sym typeface="Arimo Bold"/>
              </a:rPr>
              <a:t>BENEFICIO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91627" y="5098732"/>
            <a:ext cx="5389245" cy="13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 b="true">
                <a:solidFill>
                  <a:srgbClr val="172033"/>
                </a:solidFill>
                <a:latin typeface="Arimo Bold"/>
                <a:ea typeface="Arimo Bold"/>
                <a:cs typeface="Arimo Bold"/>
                <a:sym typeface="Arimo Bold"/>
              </a:rPr>
              <a:t>Genera un estímulo muscular importante utilizando cargas relativamente bajas.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44000" y="4071938"/>
            <a:ext cx="6858000" cy="3143250"/>
            <a:chOff x="0" y="0"/>
            <a:chExt cx="9144000" cy="4191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9144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8991600" y="0"/>
                  </a:lnTo>
                  <a:cubicBezTo>
                    <a:pt x="9075801" y="0"/>
                    <a:pt x="9144000" y="68199"/>
                    <a:pt x="9144000" y="152400"/>
                  </a:cubicBezTo>
                  <a:lnTo>
                    <a:pt x="9144000" y="4038600"/>
                  </a:lnTo>
                  <a:cubicBezTo>
                    <a:pt x="9144000" y="4122801"/>
                    <a:pt x="9075801" y="4191000"/>
                    <a:pt x="8991600" y="4191000"/>
                  </a:cubicBezTo>
                  <a:lnTo>
                    <a:pt x="152400" y="4191000"/>
                  </a:lnTo>
                  <a:cubicBezTo>
                    <a:pt x="68199" y="4191000"/>
                    <a:pt x="0" y="4122801"/>
                    <a:pt x="0" y="4038600"/>
                  </a:cubicBezTo>
                  <a:close/>
                </a:path>
              </a:pathLst>
            </a:custGeom>
            <a:solidFill>
              <a:srgbClr val="FFF1F1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664065" y="4536757"/>
            <a:ext cx="3388995" cy="275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E35454"/>
                </a:solidFill>
                <a:latin typeface="Arimo Bold"/>
                <a:ea typeface="Arimo Bold"/>
                <a:cs typeface="Arimo Bold"/>
                <a:sym typeface="Arimo Bold"/>
              </a:rPr>
              <a:t>CONDICIÓN DE USO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64065" y="5098732"/>
            <a:ext cx="5389245" cy="13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 b="true">
                <a:solidFill>
                  <a:srgbClr val="172033"/>
                </a:solidFill>
                <a:latin typeface="Arimo Bold"/>
                <a:ea typeface="Arimo Bold"/>
                <a:cs typeface="Arimo Bold"/>
                <a:sym typeface="Arimo Bold"/>
              </a:rPr>
              <a:t>La banda debe ubicarse correctamente y aplicar una presión adecuada para cada persona.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34565" y="8099107"/>
            <a:ext cx="13818870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255E6"/>
                </a:solidFill>
                <a:latin typeface="Arimo Bold"/>
                <a:ea typeface="Arimo Bold"/>
                <a:cs typeface="Arimo Bold"/>
                <a:sym typeface="Arimo Bold"/>
              </a:rPr>
              <a:t>Por eso el usuario necesita orientación antes y durante la sesión.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57175" cy="10287000"/>
            <a:chOff x="0" y="0"/>
            <a:chExt cx="3429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29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C6D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34415" y="588645"/>
            <a:ext cx="1524762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Problema que aborda el proyecto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64940" y="679132"/>
            <a:ext cx="674370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627083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42975" y="1600200"/>
            <a:ext cx="16402050" cy="28575"/>
            <a:chOff x="0" y="0"/>
            <a:chExt cx="2186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69400" cy="38100"/>
            </a:xfrm>
            <a:custGeom>
              <a:avLst/>
              <a:gdLst/>
              <a:ahLst/>
              <a:cxnLst/>
              <a:rect r="r" b="b" t="t" l="l"/>
              <a:pathLst>
                <a:path h="38100" w="21869400">
                  <a:moveTo>
                    <a:pt x="0" y="0"/>
                  </a:moveTo>
                  <a:lnTo>
                    <a:pt x="21869400" y="0"/>
                  </a:lnTo>
                  <a:lnTo>
                    <a:pt x="21869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CE4ED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20140" y="2107883"/>
            <a:ext cx="8389620" cy="275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E35454"/>
                </a:solidFill>
                <a:latin typeface="Arimo Bold"/>
                <a:ea typeface="Arimo Bold"/>
                <a:cs typeface="Arimo Bold"/>
                <a:sym typeface="Arimo Bold"/>
              </a:rPr>
              <a:t>DECISIONES QUE HOY DEPENDEN DEL USUARIO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14425" y="2714625"/>
            <a:ext cx="7429500" cy="885825"/>
            <a:chOff x="0" y="0"/>
            <a:chExt cx="9906000" cy="1181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9060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9906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9753600" y="0"/>
                  </a:lnTo>
                  <a:cubicBezTo>
                    <a:pt x="9837801" y="0"/>
                    <a:pt x="9906000" y="68199"/>
                    <a:pt x="9906000" y="152400"/>
                  </a:cubicBezTo>
                  <a:lnTo>
                    <a:pt x="9906000" y="1028700"/>
                  </a:lnTo>
                  <a:cubicBezTo>
                    <a:pt x="9906000" y="1112901"/>
                    <a:pt x="9837801" y="1181100"/>
                    <a:pt x="9753600" y="1181100"/>
                  </a:cubicBezTo>
                  <a:lnTo>
                    <a:pt x="152400" y="1181100"/>
                  </a:lnTo>
                  <a:cubicBezTo>
                    <a:pt x="68199" y="1181100"/>
                    <a:pt x="0" y="1112901"/>
                    <a:pt x="0" y="1028700"/>
                  </a:cubicBezTo>
                  <a:close/>
                </a:path>
              </a:pathLst>
            </a:custGeom>
            <a:solidFill>
              <a:srgbClr val="EDF4F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520190" y="2865120"/>
            <a:ext cx="6603682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¿Puedo realizar BFR de forma segura?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14425" y="3914775"/>
            <a:ext cx="7429500" cy="885825"/>
            <a:chOff x="0" y="0"/>
            <a:chExt cx="9906000" cy="1181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9060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9906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9753600" y="0"/>
                  </a:lnTo>
                  <a:cubicBezTo>
                    <a:pt x="9837801" y="0"/>
                    <a:pt x="9906000" y="68199"/>
                    <a:pt x="9906000" y="152400"/>
                  </a:cubicBezTo>
                  <a:lnTo>
                    <a:pt x="9906000" y="1028700"/>
                  </a:lnTo>
                  <a:cubicBezTo>
                    <a:pt x="9906000" y="1112901"/>
                    <a:pt x="9837801" y="1181100"/>
                    <a:pt x="9753600" y="1181100"/>
                  </a:cubicBezTo>
                  <a:lnTo>
                    <a:pt x="152400" y="1181100"/>
                  </a:lnTo>
                  <a:cubicBezTo>
                    <a:pt x="68199" y="1181100"/>
                    <a:pt x="0" y="1112901"/>
                    <a:pt x="0" y="1028700"/>
                  </a:cubicBezTo>
                  <a:close/>
                </a:path>
              </a:pathLst>
            </a:custGeom>
            <a:solidFill>
              <a:srgbClr val="EDF4F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20190" y="4065270"/>
            <a:ext cx="6603682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¿Dónde coloco la banda?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14425" y="5114925"/>
            <a:ext cx="7429500" cy="885825"/>
            <a:chOff x="0" y="0"/>
            <a:chExt cx="9906000" cy="1181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9060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9906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9753600" y="0"/>
                  </a:lnTo>
                  <a:cubicBezTo>
                    <a:pt x="9837801" y="0"/>
                    <a:pt x="9906000" y="68199"/>
                    <a:pt x="9906000" y="152400"/>
                  </a:cubicBezTo>
                  <a:lnTo>
                    <a:pt x="9906000" y="1028700"/>
                  </a:lnTo>
                  <a:cubicBezTo>
                    <a:pt x="9906000" y="1112901"/>
                    <a:pt x="9837801" y="1181100"/>
                    <a:pt x="9753600" y="1181100"/>
                  </a:cubicBezTo>
                  <a:lnTo>
                    <a:pt x="152400" y="1181100"/>
                  </a:lnTo>
                  <a:cubicBezTo>
                    <a:pt x="68199" y="1181100"/>
                    <a:pt x="0" y="1112901"/>
                    <a:pt x="0" y="1028700"/>
                  </a:cubicBezTo>
                  <a:close/>
                </a:path>
              </a:pathLst>
            </a:custGeom>
            <a:solidFill>
              <a:srgbClr val="FFF1F1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520190" y="5265420"/>
            <a:ext cx="6603682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¿Qué presión debo utilizar?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14425" y="6315075"/>
            <a:ext cx="7429500" cy="885825"/>
            <a:chOff x="0" y="0"/>
            <a:chExt cx="9906000" cy="1181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9060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9906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9753600" y="0"/>
                  </a:lnTo>
                  <a:cubicBezTo>
                    <a:pt x="9837801" y="0"/>
                    <a:pt x="9906000" y="68199"/>
                    <a:pt x="9906000" y="152400"/>
                  </a:cubicBezTo>
                  <a:lnTo>
                    <a:pt x="9906000" y="1028700"/>
                  </a:lnTo>
                  <a:cubicBezTo>
                    <a:pt x="9906000" y="1112901"/>
                    <a:pt x="9837801" y="1181100"/>
                    <a:pt x="9753600" y="1181100"/>
                  </a:cubicBezTo>
                  <a:lnTo>
                    <a:pt x="152400" y="1181100"/>
                  </a:lnTo>
                  <a:cubicBezTo>
                    <a:pt x="68199" y="1181100"/>
                    <a:pt x="0" y="1112901"/>
                    <a:pt x="0" y="1028700"/>
                  </a:cubicBezTo>
                  <a:close/>
                </a:path>
              </a:pathLst>
            </a:custGeom>
            <a:solidFill>
              <a:srgbClr val="EDF4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520190" y="6465570"/>
            <a:ext cx="6603682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¿Estoy ejecutando bien el ejercicio?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715500" y="2428875"/>
            <a:ext cx="6500812" cy="5000625"/>
            <a:chOff x="0" y="0"/>
            <a:chExt cx="8667750" cy="6667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667750" cy="6667500"/>
            </a:xfrm>
            <a:custGeom>
              <a:avLst/>
              <a:gdLst/>
              <a:ahLst/>
              <a:cxnLst/>
              <a:rect r="r" b="b" t="t" l="l"/>
              <a:pathLst>
                <a:path h="6667500" w="866775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8515350" y="0"/>
                  </a:lnTo>
                  <a:cubicBezTo>
                    <a:pt x="8599551" y="0"/>
                    <a:pt x="8667750" y="68199"/>
                    <a:pt x="8667750" y="152400"/>
                  </a:cubicBezTo>
                  <a:lnTo>
                    <a:pt x="8667750" y="6515100"/>
                  </a:lnTo>
                  <a:cubicBezTo>
                    <a:pt x="8667750" y="6599301"/>
                    <a:pt x="8599551" y="6667500"/>
                    <a:pt x="8515350" y="6667500"/>
                  </a:cubicBezTo>
                  <a:lnTo>
                    <a:pt x="152400" y="6667500"/>
                  </a:lnTo>
                  <a:cubicBezTo>
                    <a:pt x="68199" y="6667500"/>
                    <a:pt x="0" y="6599301"/>
                    <a:pt x="0" y="6515100"/>
                  </a:cubicBezTo>
                  <a:close/>
                </a:path>
              </a:pathLst>
            </a:custGeom>
            <a:solidFill>
              <a:srgbClr val="101C2C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378440" y="2965133"/>
            <a:ext cx="496062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8AE6CE"/>
                </a:solidFill>
                <a:latin typeface="Arimo Bold"/>
                <a:ea typeface="Arimo Bold"/>
                <a:cs typeface="Arimo Bold"/>
                <a:sym typeface="Arimo Bold"/>
              </a:rPr>
              <a:t>Consecuencia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78440" y="3731895"/>
            <a:ext cx="4960620" cy="236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sz="3262" b="true">
                <a:solidFill>
                  <a:srgbClr val="F7FAFC"/>
                </a:solidFill>
                <a:latin typeface="Arimo Bold"/>
                <a:ea typeface="Arimo Bold"/>
                <a:cs typeface="Arimo Bold"/>
                <a:sym typeface="Arimo Bold"/>
              </a:rPr>
              <a:t>Un uso incorrecto puede aumentar el riesgo para la salud del usuario y la responsabilidad legal de la empresa.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05940" y="8241982"/>
            <a:ext cx="14676120" cy="570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true">
                <a:solidFill>
                  <a:srgbClr val="2255E6"/>
                </a:solidFill>
                <a:latin typeface="Arimo Bold"/>
                <a:ea typeface="Arimo Bold"/>
                <a:cs typeface="Arimo Bold"/>
                <a:sym typeface="Arimo Bold"/>
              </a:rPr>
              <a:t>La brecha no está en la prenda, sino en la falta de acompañamiento durante su uso.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57175" cy="10287000"/>
            <a:chOff x="0" y="0"/>
            <a:chExt cx="3429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29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C6D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34415" y="588645"/>
            <a:ext cx="1524762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La solución: Hytro Precision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64940" y="679132"/>
            <a:ext cx="674370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627083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42975" y="1600200"/>
            <a:ext cx="16402050" cy="28575"/>
            <a:chOff x="0" y="0"/>
            <a:chExt cx="2186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69400" cy="38100"/>
            </a:xfrm>
            <a:custGeom>
              <a:avLst/>
              <a:gdLst/>
              <a:ahLst/>
              <a:cxnLst/>
              <a:rect r="r" b="b" t="t" l="l"/>
              <a:pathLst>
                <a:path h="38100" w="21869400">
                  <a:moveTo>
                    <a:pt x="0" y="0"/>
                  </a:moveTo>
                  <a:lnTo>
                    <a:pt x="21869400" y="0"/>
                  </a:lnTo>
                  <a:lnTo>
                    <a:pt x="21869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CE4E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2428875"/>
            <a:ext cx="4714875" cy="4714875"/>
            <a:chOff x="0" y="0"/>
            <a:chExt cx="6286500" cy="6286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86500" cy="6286500"/>
            </a:xfrm>
            <a:custGeom>
              <a:avLst/>
              <a:gdLst/>
              <a:ahLst/>
              <a:cxnLst/>
              <a:rect r="r" b="b" t="t" l="l"/>
              <a:pathLst>
                <a:path h="6286500" w="62865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134100" y="0"/>
                  </a:lnTo>
                  <a:cubicBezTo>
                    <a:pt x="6218301" y="0"/>
                    <a:pt x="6286500" y="68199"/>
                    <a:pt x="6286500" y="152400"/>
                  </a:cubicBezTo>
                  <a:lnTo>
                    <a:pt x="6286500" y="6134100"/>
                  </a:lnTo>
                  <a:cubicBezTo>
                    <a:pt x="6286500" y="6218301"/>
                    <a:pt x="6218301" y="6286500"/>
                    <a:pt x="6134100" y="6286500"/>
                  </a:cubicBezTo>
                  <a:lnTo>
                    <a:pt x="152400" y="6286500"/>
                  </a:lnTo>
                  <a:cubicBezTo>
                    <a:pt x="68199" y="6286500"/>
                    <a:pt x="0" y="6218301"/>
                    <a:pt x="0" y="6134100"/>
                  </a:cubicBezTo>
                  <a:close/>
                </a:path>
              </a:pathLst>
            </a:custGeom>
            <a:solidFill>
              <a:srgbClr val="FFF1F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2428875"/>
            <a:ext cx="4714875" cy="171450"/>
            <a:chOff x="0" y="0"/>
            <a:chExt cx="6286500" cy="228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86500" cy="228600"/>
            </a:xfrm>
            <a:custGeom>
              <a:avLst/>
              <a:gdLst/>
              <a:ahLst/>
              <a:cxnLst/>
              <a:rect r="r" b="b" t="t" l="l"/>
              <a:pathLst>
                <a:path h="228600" w="6286500">
                  <a:moveTo>
                    <a:pt x="0" y="0"/>
                  </a:moveTo>
                  <a:lnTo>
                    <a:pt x="6286500" y="0"/>
                  </a:lnTo>
                  <a:lnTo>
                    <a:pt x="62865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E35454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520190" y="3108008"/>
            <a:ext cx="3731895" cy="418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E35454"/>
                </a:solidFill>
                <a:latin typeface="Arimo Bold"/>
                <a:ea typeface="Arimo Bold"/>
                <a:cs typeface="Arimo Bold"/>
                <a:sym typeface="Arimo Bold"/>
              </a:rPr>
              <a:t>SEGURIDAD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20190" y="3955733"/>
            <a:ext cx="3731895" cy="199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Screening obligatorio, cálculo de presión y verificación del cuff.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600825" y="2428875"/>
            <a:ext cx="4714875" cy="4714875"/>
            <a:chOff x="0" y="0"/>
            <a:chExt cx="6286500" cy="6286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286500" cy="6286500"/>
            </a:xfrm>
            <a:custGeom>
              <a:avLst/>
              <a:gdLst/>
              <a:ahLst/>
              <a:cxnLst/>
              <a:rect r="r" b="b" t="t" l="l"/>
              <a:pathLst>
                <a:path h="6286500" w="62865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134100" y="0"/>
                  </a:lnTo>
                  <a:cubicBezTo>
                    <a:pt x="6218301" y="0"/>
                    <a:pt x="6286500" y="68199"/>
                    <a:pt x="6286500" y="152400"/>
                  </a:cubicBezTo>
                  <a:lnTo>
                    <a:pt x="6286500" y="6134100"/>
                  </a:lnTo>
                  <a:cubicBezTo>
                    <a:pt x="6286500" y="6218301"/>
                    <a:pt x="6218301" y="6286500"/>
                    <a:pt x="6134100" y="6286500"/>
                  </a:cubicBezTo>
                  <a:lnTo>
                    <a:pt x="152400" y="6286500"/>
                  </a:lnTo>
                  <a:cubicBezTo>
                    <a:pt x="68199" y="6286500"/>
                    <a:pt x="0" y="6218301"/>
                    <a:pt x="0" y="6134100"/>
                  </a:cubicBezTo>
                  <a:close/>
                </a:path>
              </a:pathLst>
            </a:custGeom>
            <a:solidFill>
              <a:srgbClr val="EEF3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600825" y="2428875"/>
            <a:ext cx="4714875" cy="171450"/>
            <a:chOff x="0" y="0"/>
            <a:chExt cx="6286500" cy="228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286500" cy="228600"/>
            </a:xfrm>
            <a:custGeom>
              <a:avLst/>
              <a:gdLst/>
              <a:ahLst/>
              <a:cxnLst/>
              <a:rect r="r" b="b" t="t" l="l"/>
              <a:pathLst>
                <a:path h="228600" w="6286500">
                  <a:moveTo>
                    <a:pt x="0" y="0"/>
                  </a:moveTo>
                  <a:lnTo>
                    <a:pt x="6286500" y="0"/>
                  </a:lnTo>
                  <a:lnTo>
                    <a:pt x="62865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2255E6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092315" y="3108008"/>
            <a:ext cx="3731895" cy="418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2255E6"/>
                </a:solidFill>
                <a:latin typeface="Arimo Bold"/>
                <a:ea typeface="Arimo Bold"/>
                <a:cs typeface="Arimo Bold"/>
                <a:sym typeface="Arimo Bold"/>
              </a:rPr>
              <a:t>ENTRENAMIENTO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092315" y="3955733"/>
            <a:ext cx="3731895" cy="199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Ejercicios según anatomía, corrección de forma y control del tempo.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172950" y="2428875"/>
            <a:ext cx="4714875" cy="4714875"/>
            <a:chOff x="0" y="0"/>
            <a:chExt cx="6286500" cy="6286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86500" cy="6286500"/>
            </a:xfrm>
            <a:custGeom>
              <a:avLst/>
              <a:gdLst/>
              <a:ahLst/>
              <a:cxnLst/>
              <a:rect r="r" b="b" t="t" l="l"/>
              <a:pathLst>
                <a:path h="6286500" w="62865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134100" y="0"/>
                  </a:lnTo>
                  <a:cubicBezTo>
                    <a:pt x="6218301" y="0"/>
                    <a:pt x="6286500" y="68199"/>
                    <a:pt x="6286500" y="152400"/>
                  </a:cubicBezTo>
                  <a:lnTo>
                    <a:pt x="6286500" y="6134100"/>
                  </a:lnTo>
                  <a:cubicBezTo>
                    <a:pt x="6286500" y="6218301"/>
                    <a:pt x="6218301" y="6286500"/>
                    <a:pt x="6134100" y="6286500"/>
                  </a:cubicBezTo>
                  <a:lnTo>
                    <a:pt x="152400" y="6286500"/>
                  </a:lnTo>
                  <a:cubicBezTo>
                    <a:pt x="68199" y="6286500"/>
                    <a:pt x="0" y="6218301"/>
                    <a:pt x="0" y="6134100"/>
                  </a:cubicBezTo>
                  <a:close/>
                </a:path>
              </a:pathLst>
            </a:custGeom>
            <a:solidFill>
              <a:srgbClr val="EAFBF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172950" y="2428875"/>
            <a:ext cx="4714875" cy="171450"/>
            <a:chOff x="0" y="0"/>
            <a:chExt cx="6286500" cy="228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286500" cy="228600"/>
            </a:xfrm>
            <a:custGeom>
              <a:avLst/>
              <a:gdLst/>
              <a:ahLst/>
              <a:cxnLst/>
              <a:rect r="r" b="b" t="t" l="l"/>
              <a:pathLst>
                <a:path h="228600" w="6286500">
                  <a:moveTo>
                    <a:pt x="0" y="0"/>
                  </a:moveTo>
                  <a:lnTo>
                    <a:pt x="6286500" y="0"/>
                  </a:lnTo>
                  <a:lnTo>
                    <a:pt x="62865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25C6DA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664440" y="3108008"/>
            <a:ext cx="3731895" cy="418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25C6DA"/>
                </a:solidFill>
                <a:latin typeface="Arimo Bold"/>
                <a:ea typeface="Arimo Bold"/>
                <a:cs typeface="Arimo Bold"/>
                <a:sym typeface="Arimo Bold"/>
              </a:rPr>
              <a:t>SEGUIMIENTO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64440" y="3955733"/>
            <a:ext cx="3731895" cy="199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HRV, sueño y frecuencia cardíaca desde wearables.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20140" y="8037195"/>
            <a:ext cx="15390495" cy="703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172033"/>
                </a:solidFill>
                <a:latin typeface="Arimo Bold"/>
                <a:ea typeface="Arimo Bold"/>
                <a:cs typeface="Arimo Bold"/>
                <a:sym typeface="Arimo Bold"/>
              </a:rPr>
              <a:t>Resultado esperado: mayor confianza del usuario y menor exposición por uso incorrecto.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57175" cy="10287000"/>
            <a:chOff x="0" y="0"/>
            <a:chExt cx="3429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29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C6D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34415" y="588645"/>
            <a:ext cx="1524762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Cómo funcionaría una sesión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64940" y="679132"/>
            <a:ext cx="674370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627083"/>
                </a:solidFill>
                <a:latin typeface="Arimo Bold"/>
                <a:ea typeface="Arimo Bold"/>
                <a:cs typeface="Arimo Bold"/>
                <a:sym typeface="Arimo Bold"/>
              </a:rPr>
              <a:t>05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42975" y="1600200"/>
            <a:ext cx="16402050" cy="28575"/>
            <a:chOff x="0" y="0"/>
            <a:chExt cx="2186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69400" cy="38100"/>
            </a:xfrm>
            <a:custGeom>
              <a:avLst/>
              <a:gdLst/>
              <a:ahLst/>
              <a:cxnLst/>
              <a:rect r="r" b="b" t="t" l="l"/>
              <a:pathLst>
                <a:path h="38100" w="21869400">
                  <a:moveTo>
                    <a:pt x="0" y="0"/>
                  </a:moveTo>
                  <a:lnTo>
                    <a:pt x="21869400" y="0"/>
                  </a:lnTo>
                  <a:lnTo>
                    <a:pt x="21869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CE4E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8688" y="2643188"/>
            <a:ext cx="2714625" cy="4286250"/>
            <a:chOff x="0" y="0"/>
            <a:chExt cx="3619500" cy="571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500" cy="5715000"/>
            </a:xfrm>
            <a:custGeom>
              <a:avLst/>
              <a:gdLst/>
              <a:ahLst/>
              <a:cxnLst/>
              <a:rect r="r" b="b" t="t" l="l"/>
              <a:pathLst>
                <a:path h="5715000" w="36195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3467100" y="0"/>
                  </a:lnTo>
                  <a:cubicBezTo>
                    <a:pt x="3551301" y="0"/>
                    <a:pt x="3619500" y="68199"/>
                    <a:pt x="3619500" y="152400"/>
                  </a:cubicBezTo>
                  <a:lnTo>
                    <a:pt x="3619500" y="5562600"/>
                  </a:lnTo>
                  <a:cubicBezTo>
                    <a:pt x="3619500" y="5646801"/>
                    <a:pt x="3551301" y="5715000"/>
                    <a:pt x="3467100" y="5715000"/>
                  </a:cubicBezTo>
                  <a:lnTo>
                    <a:pt x="152400" y="5715000"/>
                  </a:lnTo>
                  <a:cubicBezTo>
                    <a:pt x="68199" y="5715000"/>
                    <a:pt x="0" y="5646801"/>
                    <a:pt x="0" y="5562600"/>
                  </a:cubicBezTo>
                  <a:close/>
                </a:path>
              </a:pathLst>
            </a:custGeom>
            <a:solidFill>
              <a:srgbClr val="EAFBF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14500" y="2071688"/>
            <a:ext cx="1143000" cy="1143000"/>
            <a:chOff x="0" y="0"/>
            <a:chExt cx="1524000" cy="152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371600" y="0"/>
                  </a:lnTo>
                  <a:cubicBezTo>
                    <a:pt x="1455801" y="0"/>
                    <a:pt x="1524000" y="68199"/>
                    <a:pt x="1524000" y="152400"/>
                  </a:cubicBezTo>
                  <a:lnTo>
                    <a:pt x="1524000" y="1371600"/>
                  </a:lnTo>
                  <a:cubicBezTo>
                    <a:pt x="1524000" y="1455801"/>
                    <a:pt x="1455801" y="1524000"/>
                    <a:pt x="1371600" y="1524000"/>
                  </a:cubicBezTo>
                  <a:lnTo>
                    <a:pt x="152400" y="1524000"/>
                  </a:lnTo>
                  <a:cubicBezTo>
                    <a:pt x="68199" y="1524000"/>
                    <a:pt x="0" y="1455801"/>
                    <a:pt x="0" y="1371600"/>
                  </a:cubicBezTo>
                  <a:close/>
                </a:path>
              </a:pathLst>
            </a:custGeom>
            <a:solidFill>
              <a:srgbClr val="2255E6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805940" y="2284095"/>
            <a:ext cx="960120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 b="true">
                <a:solidFill>
                  <a:srgbClr val="F7FAFC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4440" y="3598545"/>
            <a:ext cx="2103120" cy="570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Screening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7302" y="4493895"/>
            <a:ext cx="2017395" cy="120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627083"/>
                </a:solidFill>
                <a:latin typeface="Arimo"/>
                <a:ea typeface="Arimo"/>
                <a:cs typeface="Arimo"/>
                <a:sym typeface="Arimo"/>
              </a:rPr>
              <a:t>Bloquea riesgos médicos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329112" y="2643188"/>
            <a:ext cx="2714625" cy="4286250"/>
            <a:chOff x="0" y="0"/>
            <a:chExt cx="3619500" cy="5715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19500" cy="5715000"/>
            </a:xfrm>
            <a:custGeom>
              <a:avLst/>
              <a:gdLst/>
              <a:ahLst/>
              <a:cxnLst/>
              <a:rect r="r" b="b" t="t" l="l"/>
              <a:pathLst>
                <a:path h="5715000" w="36195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3467100" y="0"/>
                  </a:lnTo>
                  <a:cubicBezTo>
                    <a:pt x="3551301" y="0"/>
                    <a:pt x="3619500" y="68199"/>
                    <a:pt x="3619500" y="152400"/>
                  </a:cubicBezTo>
                  <a:lnTo>
                    <a:pt x="3619500" y="5562600"/>
                  </a:lnTo>
                  <a:cubicBezTo>
                    <a:pt x="3619500" y="5646801"/>
                    <a:pt x="3551301" y="5715000"/>
                    <a:pt x="3467100" y="5715000"/>
                  </a:cubicBezTo>
                  <a:lnTo>
                    <a:pt x="152400" y="5715000"/>
                  </a:lnTo>
                  <a:cubicBezTo>
                    <a:pt x="68199" y="5715000"/>
                    <a:pt x="0" y="5646801"/>
                    <a:pt x="0" y="5562600"/>
                  </a:cubicBezTo>
                  <a:close/>
                </a:path>
              </a:pathLst>
            </a:custGeom>
            <a:solidFill>
              <a:srgbClr val="EDF4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114925" y="2071688"/>
            <a:ext cx="1143000" cy="1143000"/>
            <a:chOff x="0" y="0"/>
            <a:chExt cx="1524000" cy="1524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371600" y="0"/>
                  </a:lnTo>
                  <a:cubicBezTo>
                    <a:pt x="1455801" y="0"/>
                    <a:pt x="1524000" y="68199"/>
                    <a:pt x="1524000" y="152400"/>
                  </a:cubicBezTo>
                  <a:lnTo>
                    <a:pt x="1524000" y="1371600"/>
                  </a:lnTo>
                  <a:cubicBezTo>
                    <a:pt x="1524000" y="1455801"/>
                    <a:pt x="1455801" y="1524000"/>
                    <a:pt x="1371600" y="1524000"/>
                  </a:cubicBezTo>
                  <a:lnTo>
                    <a:pt x="152400" y="1524000"/>
                  </a:lnTo>
                  <a:cubicBezTo>
                    <a:pt x="68199" y="1524000"/>
                    <a:pt x="0" y="1455801"/>
                    <a:pt x="0" y="1371600"/>
                  </a:cubicBezTo>
                  <a:close/>
                </a:path>
              </a:pathLst>
            </a:custGeom>
            <a:solidFill>
              <a:srgbClr val="2255E6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206365" y="2284095"/>
            <a:ext cx="960120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 b="true">
                <a:solidFill>
                  <a:srgbClr val="F7FAFC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634865" y="3598545"/>
            <a:ext cx="2103120" cy="570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Perfil y LOP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677728" y="4493895"/>
            <a:ext cx="2017395" cy="120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627083"/>
                </a:solidFill>
                <a:latin typeface="Arimo"/>
                <a:ea typeface="Arimo"/>
                <a:cs typeface="Arimo"/>
                <a:sym typeface="Arimo"/>
              </a:rPr>
              <a:t>Calcula presión segura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729538" y="2643188"/>
            <a:ext cx="2714625" cy="4286250"/>
            <a:chOff x="0" y="0"/>
            <a:chExt cx="3619500" cy="5715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19500" cy="5715000"/>
            </a:xfrm>
            <a:custGeom>
              <a:avLst/>
              <a:gdLst/>
              <a:ahLst/>
              <a:cxnLst/>
              <a:rect r="r" b="b" t="t" l="l"/>
              <a:pathLst>
                <a:path h="5715000" w="36195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3467100" y="0"/>
                  </a:lnTo>
                  <a:cubicBezTo>
                    <a:pt x="3551301" y="0"/>
                    <a:pt x="3619500" y="68199"/>
                    <a:pt x="3619500" y="152400"/>
                  </a:cubicBezTo>
                  <a:lnTo>
                    <a:pt x="3619500" y="5562600"/>
                  </a:lnTo>
                  <a:cubicBezTo>
                    <a:pt x="3619500" y="5646801"/>
                    <a:pt x="3551301" y="5715000"/>
                    <a:pt x="3467100" y="5715000"/>
                  </a:cubicBezTo>
                  <a:lnTo>
                    <a:pt x="152400" y="5715000"/>
                  </a:lnTo>
                  <a:cubicBezTo>
                    <a:pt x="68199" y="5715000"/>
                    <a:pt x="0" y="5646801"/>
                    <a:pt x="0" y="5562600"/>
                  </a:cubicBezTo>
                  <a:close/>
                </a:path>
              </a:pathLst>
            </a:custGeom>
            <a:solidFill>
              <a:srgbClr val="EAFBF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515350" y="2071688"/>
            <a:ext cx="1143000" cy="1143000"/>
            <a:chOff x="0" y="0"/>
            <a:chExt cx="1524000" cy="1524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371600" y="0"/>
                  </a:lnTo>
                  <a:cubicBezTo>
                    <a:pt x="1455801" y="0"/>
                    <a:pt x="1524000" y="68199"/>
                    <a:pt x="1524000" y="152400"/>
                  </a:cubicBezTo>
                  <a:lnTo>
                    <a:pt x="1524000" y="1371600"/>
                  </a:lnTo>
                  <a:cubicBezTo>
                    <a:pt x="1524000" y="1455801"/>
                    <a:pt x="1455801" y="1524000"/>
                    <a:pt x="1371600" y="1524000"/>
                  </a:cubicBezTo>
                  <a:lnTo>
                    <a:pt x="152400" y="1524000"/>
                  </a:lnTo>
                  <a:cubicBezTo>
                    <a:pt x="68199" y="1524000"/>
                    <a:pt x="0" y="1455801"/>
                    <a:pt x="0" y="1371600"/>
                  </a:cubicBezTo>
                  <a:close/>
                </a:path>
              </a:pathLst>
            </a:custGeom>
            <a:solidFill>
              <a:srgbClr val="25C6DA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8606790" y="2284095"/>
            <a:ext cx="960120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 b="true">
                <a:solidFill>
                  <a:srgbClr val="F7FAFC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035290" y="3598545"/>
            <a:ext cx="2103120" cy="570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Cuff Check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078153" y="4493895"/>
            <a:ext cx="2017395" cy="120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627083"/>
                </a:solidFill>
                <a:latin typeface="Arimo"/>
                <a:ea typeface="Arimo"/>
                <a:cs typeface="Arimo"/>
                <a:sym typeface="Arimo"/>
              </a:rPr>
              <a:t>Valida posición y tensión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1129962" y="2643188"/>
            <a:ext cx="2714625" cy="4286250"/>
            <a:chOff x="0" y="0"/>
            <a:chExt cx="3619500" cy="5715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619500" cy="5715000"/>
            </a:xfrm>
            <a:custGeom>
              <a:avLst/>
              <a:gdLst/>
              <a:ahLst/>
              <a:cxnLst/>
              <a:rect r="r" b="b" t="t" l="l"/>
              <a:pathLst>
                <a:path h="5715000" w="36195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3467100" y="0"/>
                  </a:lnTo>
                  <a:cubicBezTo>
                    <a:pt x="3551301" y="0"/>
                    <a:pt x="3619500" y="68199"/>
                    <a:pt x="3619500" y="152400"/>
                  </a:cubicBezTo>
                  <a:lnTo>
                    <a:pt x="3619500" y="5562600"/>
                  </a:lnTo>
                  <a:cubicBezTo>
                    <a:pt x="3619500" y="5646801"/>
                    <a:pt x="3551301" y="5715000"/>
                    <a:pt x="3467100" y="5715000"/>
                  </a:cubicBezTo>
                  <a:lnTo>
                    <a:pt x="152400" y="5715000"/>
                  </a:lnTo>
                  <a:cubicBezTo>
                    <a:pt x="68199" y="5715000"/>
                    <a:pt x="0" y="5646801"/>
                    <a:pt x="0" y="5562600"/>
                  </a:cubicBezTo>
                  <a:close/>
                </a:path>
              </a:pathLst>
            </a:custGeom>
            <a:solidFill>
              <a:srgbClr val="EDF4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915775" y="2071688"/>
            <a:ext cx="1143000" cy="1143000"/>
            <a:chOff x="0" y="0"/>
            <a:chExt cx="1524000" cy="1524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371600" y="0"/>
                  </a:lnTo>
                  <a:cubicBezTo>
                    <a:pt x="1455801" y="0"/>
                    <a:pt x="1524000" y="68199"/>
                    <a:pt x="1524000" y="152400"/>
                  </a:cubicBezTo>
                  <a:lnTo>
                    <a:pt x="1524000" y="1371600"/>
                  </a:lnTo>
                  <a:cubicBezTo>
                    <a:pt x="1524000" y="1455801"/>
                    <a:pt x="1455801" y="1524000"/>
                    <a:pt x="1371600" y="1524000"/>
                  </a:cubicBezTo>
                  <a:lnTo>
                    <a:pt x="152400" y="1524000"/>
                  </a:lnTo>
                  <a:cubicBezTo>
                    <a:pt x="68199" y="1524000"/>
                    <a:pt x="0" y="1455801"/>
                    <a:pt x="0" y="1371600"/>
                  </a:cubicBezTo>
                  <a:close/>
                </a:path>
              </a:pathLst>
            </a:custGeom>
            <a:solidFill>
              <a:srgbClr val="2255E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2007215" y="2284095"/>
            <a:ext cx="960120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 b="true">
                <a:solidFill>
                  <a:srgbClr val="F7FAFC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435715" y="3598545"/>
            <a:ext cx="2103120" cy="570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Entrenamiento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478578" y="4493895"/>
            <a:ext cx="2017395" cy="120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627083"/>
                </a:solidFill>
                <a:latin typeface="Arimo"/>
                <a:ea typeface="Arimo"/>
                <a:cs typeface="Arimo"/>
                <a:sym typeface="Arimo"/>
              </a:rPr>
              <a:t>Corrige forma en tiempo real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4530388" y="2643188"/>
            <a:ext cx="2714625" cy="4286250"/>
            <a:chOff x="0" y="0"/>
            <a:chExt cx="3619500" cy="5715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619500" cy="5715000"/>
            </a:xfrm>
            <a:custGeom>
              <a:avLst/>
              <a:gdLst/>
              <a:ahLst/>
              <a:cxnLst/>
              <a:rect r="r" b="b" t="t" l="l"/>
              <a:pathLst>
                <a:path h="5715000" w="36195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3467100" y="0"/>
                  </a:lnTo>
                  <a:cubicBezTo>
                    <a:pt x="3551301" y="0"/>
                    <a:pt x="3619500" y="68199"/>
                    <a:pt x="3619500" y="152400"/>
                  </a:cubicBezTo>
                  <a:lnTo>
                    <a:pt x="3619500" y="5562600"/>
                  </a:lnTo>
                  <a:cubicBezTo>
                    <a:pt x="3619500" y="5646801"/>
                    <a:pt x="3551301" y="5715000"/>
                    <a:pt x="3467100" y="5715000"/>
                  </a:cubicBezTo>
                  <a:lnTo>
                    <a:pt x="152400" y="5715000"/>
                  </a:lnTo>
                  <a:cubicBezTo>
                    <a:pt x="68199" y="5715000"/>
                    <a:pt x="0" y="5646801"/>
                    <a:pt x="0" y="5562600"/>
                  </a:cubicBezTo>
                  <a:close/>
                </a:path>
              </a:pathLst>
            </a:custGeom>
            <a:solidFill>
              <a:srgbClr val="EAFBFC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5316200" y="2071688"/>
            <a:ext cx="1143000" cy="1143000"/>
            <a:chOff x="0" y="0"/>
            <a:chExt cx="1524000" cy="1524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371600" y="0"/>
                  </a:lnTo>
                  <a:cubicBezTo>
                    <a:pt x="1455801" y="0"/>
                    <a:pt x="1524000" y="68199"/>
                    <a:pt x="1524000" y="152400"/>
                  </a:cubicBezTo>
                  <a:lnTo>
                    <a:pt x="1524000" y="1371600"/>
                  </a:lnTo>
                  <a:cubicBezTo>
                    <a:pt x="1524000" y="1455801"/>
                    <a:pt x="1455801" y="1524000"/>
                    <a:pt x="1371600" y="1524000"/>
                  </a:cubicBezTo>
                  <a:lnTo>
                    <a:pt x="152400" y="1524000"/>
                  </a:lnTo>
                  <a:cubicBezTo>
                    <a:pt x="68199" y="1524000"/>
                    <a:pt x="0" y="1455801"/>
                    <a:pt x="0" y="1371600"/>
                  </a:cubicBezTo>
                  <a:close/>
                </a:path>
              </a:pathLst>
            </a:custGeom>
            <a:solidFill>
              <a:srgbClr val="2255E6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5407640" y="2284095"/>
            <a:ext cx="960120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 b="true">
                <a:solidFill>
                  <a:srgbClr val="F7FAFC"/>
                </a:solidFill>
                <a:latin typeface="Arimo Bold"/>
                <a:ea typeface="Arimo Bold"/>
                <a:cs typeface="Arimo Bold"/>
                <a:sym typeface="Arimo Bold"/>
              </a:rPr>
              <a:t>5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836140" y="3598545"/>
            <a:ext cx="2103120" cy="570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Sincronización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879002" y="4493895"/>
            <a:ext cx="2017395" cy="120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627083"/>
                </a:solidFill>
                <a:latin typeface="Arimo"/>
                <a:ea typeface="Arimo"/>
                <a:cs typeface="Arimo"/>
                <a:sym typeface="Arimo"/>
              </a:rPr>
              <a:t>Guarda métricas, no video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805940" y="8037195"/>
            <a:ext cx="1467612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La app guía la sesión desde la evaluación médica hasta el registro post-entrenamiento.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57175" cy="10287000"/>
            <a:chOff x="0" y="0"/>
            <a:chExt cx="3429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29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C6D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34415" y="588645"/>
            <a:ext cx="1524762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¿Dónde interviene la realidad aumentada?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64940" y="679132"/>
            <a:ext cx="674370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627083"/>
                </a:solidFill>
                <a:latin typeface="Arimo Bold"/>
                <a:ea typeface="Arimo Bold"/>
                <a:cs typeface="Arimo Bold"/>
                <a:sym typeface="Arimo Bold"/>
              </a:rPr>
              <a:t>06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42975" y="1600200"/>
            <a:ext cx="16402050" cy="28575"/>
            <a:chOff x="0" y="0"/>
            <a:chExt cx="2186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69400" cy="38100"/>
            </a:xfrm>
            <a:custGeom>
              <a:avLst/>
              <a:gdLst/>
              <a:ahLst/>
              <a:cxnLst/>
              <a:rect r="r" b="b" t="t" l="l"/>
              <a:pathLst>
                <a:path h="38100" w="21869400">
                  <a:moveTo>
                    <a:pt x="0" y="0"/>
                  </a:moveTo>
                  <a:lnTo>
                    <a:pt x="21869400" y="0"/>
                  </a:lnTo>
                  <a:lnTo>
                    <a:pt x="21869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CE4ED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20140" y="2098358"/>
            <a:ext cx="15390495" cy="71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La realidad aumentada se utiliza principalmente en el Cuff Check.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71562" y="3500438"/>
            <a:ext cx="5286375" cy="3714750"/>
            <a:chOff x="0" y="0"/>
            <a:chExt cx="7048500" cy="4953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48500" cy="4953000"/>
            </a:xfrm>
            <a:custGeom>
              <a:avLst/>
              <a:gdLst/>
              <a:ahLst/>
              <a:cxnLst/>
              <a:rect r="r" b="b" t="t" l="l"/>
              <a:pathLst>
                <a:path h="4953000" w="70485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896100" y="0"/>
                  </a:lnTo>
                  <a:cubicBezTo>
                    <a:pt x="6980301" y="0"/>
                    <a:pt x="7048500" y="68199"/>
                    <a:pt x="7048500" y="152400"/>
                  </a:cubicBezTo>
                  <a:lnTo>
                    <a:pt x="7048500" y="4800600"/>
                  </a:lnTo>
                  <a:cubicBezTo>
                    <a:pt x="7048500" y="4884801"/>
                    <a:pt x="6980301" y="4953000"/>
                    <a:pt x="6896100" y="4953000"/>
                  </a:cubicBezTo>
                  <a:lnTo>
                    <a:pt x="152400" y="4953000"/>
                  </a:lnTo>
                  <a:cubicBezTo>
                    <a:pt x="68199" y="4953000"/>
                    <a:pt x="0" y="4884801"/>
                    <a:pt x="0" y="4800600"/>
                  </a:cubicBezTo>
                  <a:close/>
                </a:path>
              </a:pathLst>
            </a:custGeom>
            <a:solidFill>
              <a:srgbClr val="101C2C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663065" y="3965258"/>
            <a:ext cx="4103370" cy="418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8AE6CE"/>
                </a:solidFill>
                <a:latin typeface="Arimo Bold"/>
                <a:ea typeface="Arimo Bold"/>
                <a:cs typeface="Arimo Bold"/>
                <a:sym typeface="Arimo Bold"/>
              </a:rPr>
              <a:t>CÁMARA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63065" y="4741545"/>
            <a:ext cx="3960495" cy="1499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F7FAFC"/>
                </a:solidFill>
                <a:latin typeface="Arimo Bold"/>
                <a:ea typeface="Arimo Bold"/>
                <a:cs typeface="Arimo Bold"/>
                <a:sym typeface="Arimo Bold"/>
              </a:rPr>
              <a:t>Captura la posición de la prenda sobre el brazo o la pierna.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00812" y="3500438"/>
            <a:ext cx="5286375" cy="3714750"/>
            <a:chOff x="0" y="0"/>
            <a:chExt cx="7048500" cy="4953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48500" cy="4953000"/>
            </a:xfrm>
            <a:custGeom>
              <a:avLst/>
              <a:gdLst/>
              <a:ahLst/>
              <a:cxnLst/>
              <a:rect r="r" b="b" t="t" l="l"/>
              <a:pathLst>
                <a:path h="4953000" w="70485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896100" y="0"/>
                  </a:lnTo>
                  <a:cubicBezTo>
                    <a:pt x="6980301" y="0"/>
                    <a:pt x="7048500" y="68199"/>
                    <a:pt x="7048500" y="152400"/>
                  </a:cubicBezTo>
                  <a:lnTo>
                    <a:pt x="7048500" y="4800600"/>
                  </a:lnTo>
                  <a:cubicBezTo>
                    <a:pt x="7048500" y="4884801"/>
                    <a:pt x="6980301" y="4953000"/>
                    <a:pt x="6896100" y="4953000"/>
                  </a:cubicBezTo>
                  <a:lnTo>
                    <a:pt x="152400" y="4953000"/>
                  </a:lnTo>
                  <a:cubicBezTo>
                    <a:pt x="68199" y="4953000"/>
                    <a:pt x="0" y="4884801"/>
                    <a:pt x="0" y="4800600"/>
                  </a:cubicBezTo>
                  <a:close/>
                </a:path>
              </a:pathLst>
            </a:custGeom>
            <a:solidFill>
              <a:srgbClr val="EDF4F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092315" y="3965258"/>
            <a:ext cx="4103370" cy="418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2255E6"/>
                </a:solidFill>
                <a:latin typeface="Arimo Bold"/>
                <a:ea typeface="Arimo Bold"/>
                <a:cs typeface="Arimo Bold"/>
                <a:sym typeface="Arimo Bold"/>
              </a:rPr>
              <a:t>ANÁLISIS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92315" y="4741545"/>
            <a:ext cx="3960495" cy="1713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Compara altura, tensión y ubicación con la zona proximal segura.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930062" y="3500438"/>
            <a:ext cx="5286375" cy="3714750"/>
            <a:chOff x="0" y="0"/>
            <a:chExt cx="7048500" cy="4953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48500" cy="4953000"/>
            </a:xfrm>
            <a:custGeom>
              <a:avLst/>
              <a:gdLst/>
              <a:ahLst/>
              <a:cxnLst/>
              <a:rect r="r" b="b" t="t" l="l"/>
              <a:pathLst>
                <a:path h="4953000" w="70485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896100" y="0"/>
                  </a:lnTo>
                  <a:cubicBezTo>
                    <a:pt x="6980301" y="0"/>
                    <a:pt x="7048500" y="68199"/>
                    <a:pt x="7048500" y="152400"/>
                  </a:cubicBezTo>
                  <a:lnTo>
                    <a:pt x="7048500" y="4800600"/>
                  </a:lnTo>
                  <a:cubicBezTo>
                    <a:pt x="7048500" y="4884801"/>
                    <a:pt x="6980301" y="4953000"/>
                    <a:pt x="6896100" y="4953000"/>
                  </a:cubicBezTo>
                  <a:lnTo>
                    <a:pt x="152400" y="4953000"/>
                  </a:lnTo>
                  <a:cubicBezTo>
                    <a:pt x="68199" y="4953000"/>
                    <a:pt x="0" y="4884801"/>
                    <a:pt x="0" y="4800600"/>
                  </a:cubicBezTo>
                  <a:close/>
                </a:path>
              </a:pathLst>
            </a:custGeom>
            <a:solidFill>
              <a:srgbClr val="EAFBFC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521565" y="3965258"/>
            <a:ext cx="4103370" cy="418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25C6DA"/>
                </a:solidFill>
                <a:latin typeface="Arimo Bold"/>
                <a:ea typeface="Arimo Bold"/>
                <a:cs typeface="Arimo Bold"/>
                <a:sym typeface="Arimo Bold"/>
              </a:rPr>
              <a:t>GUÍA VISUAL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21565" y="4741545"/>
            <a:ext cx="3960495" cy="1713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Superpone indicaciones para que el usuario corrija la colocación.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34502" y="8170545"/>
            <a:ext cx="14818995" cy="570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true">
                <a:solidFill>
                  <a:srgbClr val="E35454"/>
                </a:solidFill>
                <a:latin typeface="Arimo Bold"/>
                <a:ea typeface="Arimo Bold"/>
                <a:cs typeface="Arimo Bold"/>
                <a:sym typeface="Arimo Bold"/>
              </a:rPr>
              <a:t>La aplicación usa AR como una función de seguridad, no como el producto completo.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57175" cy="10287000"/>
            <a:chOff x="0" y="0"/>
            <a:chExt cx="3429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29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C6D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34415" y="588645"/>
            <a:ext cx="1524762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Funciones principales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64940" y="679132"/>
            <a:ext cx="674370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627083"/>
                </a:solidFill>
                <a:latin typeface="Arimo Bold"/>
                <a:ea typeface="Arimo Bold"/>
                <a:cs typeface="Arimo Bold"/>
                <a:sym typeface="Arimo Bold"/>
              </a:rPr>
              <a:t>07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42975" y="1600200"/>
            <a:ext cx="16402050" cy="28575"/>
            <a:chOff x="0" y="0"/>
            <a:chExt cx="2186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69400" cy="38100"/>
            </a:xfrm>
            <a:custGeom>
              <a:avLst/>
              <a:gdLst/>
              <a:ahLst/>
              <a:cxnLst/>
              <a:rect r="r" b="b" t="t" l="l"/>
              <a:pathLst>
                <a:path h="38100" w="21869400">
                  <a:moveTo>
                    <a:pt x="0" y="0"/>
                  </a:moveTo>
                  <a:lnTo>
                    <a:pt x="21869400" y="0"/>
                  </a:lnTo>
                  <a:lnTo>
                    <a:pt x="21869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CE4E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64419" y="2207419"/>
            <a:ext cx="7658100" cy="1728788"/>
            <a:chOff x="0" y="0"/>
            <a:chExt cx="10210800" cy="2305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10800" cy="2305050"/>
            </a:xfrm>
            <a:custGeom>
              <a:avLst/>
              <a:gdLst/>
              <a:ahLst/>
              <a:cxnLst/>
              <a:rect r="r" b="b" t="t" l="l"/>
              <a:pathLst>
                <a:path h="2305050" w="10210800">
                  <a:moveTo>
                    <a:pt x="0" y="153670"/>
                  </a:moveTo>
                  <a:cubicBezTo>
                    <a:pt x="0" y="68834"/>
                    <a:pt x="68834" y="0"/>
                    <a:pt x="153670" y="0"/>
                  </a:cubicBezTo>
                  <a:lnTo>
                    <a:pt x="10057130" y="0"/>
                  </a:lnTo>
                  <a:cubicBezTo>
                    <a:pt x="10141966" y="0"/>
                    <a:pt x="10210800" y="68834"/>
                    <a:pt x="10210800" y="153670"/>
                  </a:cubicBezTo>
                  <a:lnTo>
                    <a:pt x="10210800" y="2151380"/>
                  </a:lnTo>
                  <a:cubicBezTo>
                    <a:pt x="10210800" y="2236216"/>
                    <a:pt x="10141966" y="2305050"/>
                    <a:pt x="10057130" y="2305050"/>
                  </a:cubicBezTo>
                  <a:lnTo>
                    <a:pt x="153670" y="2305050"/>
                  </a:lnTo>
                  <a:cubicBezTo>
                    <a:pt x="68834" y="2305050"/>
                    <a:pt x="0" y="2236216"/>
                    <a:pt x="0" y="215138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4ED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71562" y="2214562"/>
            <a:ext cx="142875" cy="1714500"/>
            <a:chOff x="0" y="0"/>
            <a:chExt cx="190500" cy="228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05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2255E6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648777" y="2498408"/>
            <a:ext cx="6389370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Mapa corporal 3D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48777" y="3036570"/>
            <a:ext cx="6317932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627083"/>
                </a:solidFill>
                <a:latin typeface="Arimo"/>
                <a:ea typeface="Arimo"/>
                <a:cs typeface="Arimo"/>
                <a:sym typeface="Arimo"/>
              </a:rPr>
              <a:t>Selección anatómica y recomendación de ejercicios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494044" y="2207419"/>
            <a:ext cx="7658100" cy="1728788"/>
            <a:chOff x="0" y="0"/>
            <a:chExt cx="10210800" cy="2305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10800" cy="2305050"/>
            </a:xfrm>
            <a:custGeom>
              <a:avLst/>
              <a:gdLst/>
              <a:ahLst/>
              <a:cxnLst/>
              <a:rect r="r" b="b" t="t" l="l"/>
              <a:pathLst>
                <a:path h="2305050" w="10210800">
                  <a:moveTo>
                    <a:pt x="0" y="153670"/>
                  </a:moveTo>
                  <a:cubicBezTo>
                    <a:pt x="0" y="68834"/>
                    <a:pt x="68834" y="0"/>
                    <a:pt x="153670" y="0"/>
                  </a:cubicBezTo>
                  <a:lnTo>
                    <a:pt x="10057130" y="0"/>
                  </a:lnTo>
                  <a:cubicBezTo>
                    <a:pt x="10141966" y="0"/>
                    <a:pt x="10210800" y="68834"/>
                    <a:pt x="10210800" y="153670"/>
                  </a:cubicBezTo>
                  <a:lnTo>
                    <a:pt x="10210800" y="2151380"/>
                  </a:lnTo>
                  <a:cubicBezTo>
                    <a:pt x="10210800" y="2236216"/>
                    <a:pt x="10141966" y="2305050"/>
                    <a:pt x="10057130" y="2305050"/>
                  </a:cubicBezTo>
                  <a:lnTo>
                    <a:pt x="153670" y="2305050"/>
                  </a:lnTo>
                  <a:cubicBezTo>
                    <a:pt x="68834" y="2305050"/>
                    <a:pt x="0" y="2236216"/>
                    <a:pt x="0" y="215138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4ED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501188" y="2214562"/>
            <a:ext cx="142875" cy="1714500"/>
            <a:chOff x="0" y="0"/>
            <a:chExt cx="190500" cy="228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05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25C6DA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078402" y="2498408"/>
            <a:ext cx="6389370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Cámara y realidad aumentada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078402" y="3036570"/>
            <a:ext cx="6317932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627083"/>
                </a:solidFill>
                <a:latin typeface="Arimo"/>
                <a:ea typeface="Arimo"/>
                <a:cs typeface="Arimo"/>
                <a:sym typeface="Arimo"/>
              </a:rPr>
              <a:t>Cuff Check de altura, tensión y zona proximal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64419" y="4421981"/>
            <a:ext cx="7658100" cy="1728788"/>
            <a:chOff x="0" y="0"/>
            <a:chExt cx="10210800" cy="2305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10800" cy="2305050"/>
            </a:xfrm>
            <a:custGeom>
              <a:avLst/>
              <a:gdLst/>
              <a:ahLst/>
              <a:cxnLst/>
              <a:rect r="r" b="b" t="t" l="l"/>
              <a:pathLst>
                <a:path h="2305050" w="10210800">
                  <a:moveTo>
                    <a:pt x="0" y="153670"/>
                  </a:moveTo>
                  <a:cubicBezTo>
                    <a:pt x="0" y="68834"/>
                    <a:pt x="68834" y="0"/>
                    <a:pt x="153670" y="0"/>
                  </a:cubicBezTo>
                  <a:lnTo>
                    <a:pt x="10057130" y="0"/>
                  </a:lnTo>
                  <a:cubicBezTo>
                    <a:pt x="10141966" y="0"/>
                    <a:pt x="10210800" y="68834"/>
                    <a:pt x="10210800" y="153670"/>
                  </a:cubicBezTo>
                  <a:lnTo>
                    <a:pt x="10210800" y="2151380"/>
                  </a:lnTo>
                  <a:cubicBezTo>
                    <a:pt x="10210800" y="2236216"/>
                    <a:pt x="10141966" y="2305050"/>
                    <a:pt x="10057130" y="2305050"/>
                  </a:cubicBezTo>
                  <a:lnTo>
                    <a:pt x="153670" y="2305050"/>
                  </a:lnTo>
                  <a:cubicBezTo>
                    <a:pt x="68834" y="2305050"/>
                    <a:pt x="0" y="2236216"/>
                    <a:pt x="0" y="2151380"/>
                  </a:cubicBezTo>
                  <a:close/>
                </a:path>
              </a:pathLst>
            </a:custGeom>
            <a:solidFill>
              <a:srgbClr val="EDF4FF"/>
            </a:solidFill>
            <a:ln w="14288" cap="sq">
              <a:solidFill>
                <a:srgbClr val="DCE4ED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71562" y="4429125"/>
            <a:ext cx="142875" cy="1714500"/>
            <a:chOff x="0" y="0"/>
            <a:chExt cx="190500" cy="2286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05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2255E6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648777" y="4712970"/>
            <a:ext cx="6389370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Edge AI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48777" y="5251133"/>
            <a:ext cx="6317932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627083"/>
                </a:solidFill>
                <a:latin typeface="Arimo"/>
                <a:ea typeface="Arimo"/>
                <a:cs typeface="Arimo"/>
                <a:sym typeface="Arimo"/>
              </a:rPr>
              <a:t>Corrección local, metrónomo y ghost rep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494044" y="4421981"/>
            <a:ext cx="7658100" cy="1728788"/>
            <a:chOff x="0" y="0"/>
            <a:chExt cx="10210800" cy="23050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10800" cy="2305050"/>
            </a:xfrm>
            <a:custGeom>
              <a:avLst/>
              <a:gdLst/>
              <a:ahLst/>
              <a:cxnLst/>
              <a:rect r="r" b="b" t="t" l="l"/>
              <a:pathLst>
                <a:path h="2305050" w="10210800">
                  <a:moveTo>
                    <a:pt x="0" y="153670"/>
                  </a:moveTo>
                  <a:cubicBezTo>
                    <a:pt x="0" y="68834"/>
                    <a:pt x="68834" y="0"/>
                    <a:pt x="153670" y="0"/>
                  </a:cubicBezTo>
                  <a:lnTo>
                    <a:pt x="10057130" y="0"/>
                  </a:lnTo>
                  <a:cubicBezTo>
                    <a:pt x="10141966" y="0"/>
                    <a:pt x="10210800" y="68834"/>
                    <a:pt x="10210800" y="153670"/>
                  </a:cubicBezTo>
                  <a:lnTo>
                    <a:pt x="10210800" y="2151380"/>
                  </a:lnTo>
                  <a:cubicBezTo>
                    <a:pt x="10210800" y="2236216"/>
                    <a:pt x="10141966" y="2305050"/>
                    <a:pt x="10057130" y="2305050"/>
                  </a:cubicBezTo>
                  <a:lnTo>
                    <a:pt x="153670" y="2305050"/>
                  </a:lnTo>
                  <a:cubicBezTo>
                    <a:pt x="68834" y="2305050"/>
                    <a:pt x="0" y="2236216"/>
                    <a:pt x="0" y="2151380"/>
                  </a:cubicBezTo>
                  <a:close/>
                </a:path>
              </a:pathLst>
            </a:custGeom>
            <a:solidFill>
              <a:srgbClr val="EDF4FF"/>
            </a:solidFill>
            <a:ln w="14288" cap="sq">
              <a:solidFill>
                <a:srgbClr val="DCE4ED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501188" y="4429125"/>
            <a:ext cx="142875" cy="1714500"/>
            <a:chOff x="0" y="0"/>
            <a:chExt cx="190500" cy="2286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05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25C6DA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078402" y="4712970"/>
            <a:ext cx="6389370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Wearables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078402" y="5251133"/>
            <a:ext cx="6317932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627083"/>
                </a:solidFill>
                <a:latin typeface="Arimo"/>
                <a:ea typeface="Arimo"/>
                <a:cs typeface="Arimo"/>
                <a:sym typeface="Arimo"/>
              </a:rPr>
              <a:t>Apple Health, Google Fit, Oura y Whoop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64419" y="6636544"/>
            <a:ext cx="7658100" cy="1728788"/>
            <a:chOff x="0" y="0"/>
            <a:chExt cx="10210800" cy="23050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210800" cy="2305050"/>
            </a:xfrm>
            <a:custGeom>
              <a:avLst/>
              <a:gdLst/>
              <a:ahLst/>
              <a:cxnLst/>
              <a:rect r="r" b="b" t="t" l="l"/>
              <a:pathLst>
                <a:path h="2305050" w="10210800">
                  <a:moveTo>
                    <a:pt x="0" y="153670"/>
                  </a:moveTo>
                  <a:cubicBezTo>
                    <a:pt x="0" y="68834"/>
                    <a:pt x="68834" y="0"/>
                    <a:pt x="153670" y="0"/>
                  </a:cubicBezTo>
                  <a:lnTo>
                    <a:pt x="10057130" y="0"/>
                  </a:lnTo>
                  <a:cubicBezTo>
                    <a:pt x="10141966" y="0"/>
                    <a:pt x="10210800" y="68834"/>
                    <a:pt x="10210800" y="153670"/>
                  </a:cubicBezTo>
                  <a:lnTo>
                    <a:pt x="10210800" y="2151380"/>
                  </a:lnTo>
                  <a:cubicBezTo>
                    <a:pt x="10210800" y="2236216"/>
                    <a:pt x="10141966" y="2305050"/>
                    <a:pt x="10057130" y="2305050"/>
                  </a:cubicBezTo>
                  <a:lnTo>
                    <a:pt x="153670" y="2305050"/>
                  </a:lnTo>
                  <a:cubicBezTo>
                    <a:pt x="68834" y="2305050"/>
                    <a:pt x="0" y="2236216"/>
                    <a:pt x="0" y="215138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4ED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071562" y="6643688"/>
            <a:ext cx="142875" cy="1714500"/>
            <a:chOff x="0" y="0"/>
            <a:chExt cx="190500" cy="2286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905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2255E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648777" y="6927532"/>
            <a:ext cx="6389370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Modo offline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48777" y="7465695"/>
            <a:ext cx="6317932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627083"/>
                </a:solidFill>
                <a:latin typeface="Arimo"/>
                <a:ea typeface="Arimo"/>
                <a:cs typeface="Arimo"/>
                <a:sym typeface="Arimo"/>
              </a:rPr>
              <a:t>Cola de cambios y resolución de duplicados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494044" y="6636544"/>
            <a:ext cx="7658100" cy="1728788"/>
            <a:chOff x="0" y="0"/>
            <a:chExt cx="10210800" cy="23050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210800" cy="2305050"/>
            </a:xfrm>
            <a:custGeom>
              <a:avLst/>
              <a:gdLst/>
              <a:ahLst/>
              <a:cxnLst/>
              <a:rect r="r" b="b" t="t" l="l"/>
              <a:pathLst>
                <a:path h="2305050" w="10210800">
                  <a:moveTo>
                    <a:pt x="0" y="153670"/>
                  </a:moveTo>
                  <a:cubicBezTo>
                    <a:pt x="0" y="68834"/>
                    <a:pt x="68834" y="0"/>
                    <a:pt x="153670" y="0"/>
                  </a:cubicBezTo>
                  <a:lnTo>
                    <a:pt x="10057130" y="0"/>
                  </a:lnTo>
                  <a:cubicBezTo>
                    <a:pt x="10141966" y="0"/>
                    <a:pt x="10210800" y="68834"/>
                    <a:pt x="10210800" y="153670"/>
                  </a:cubicBezTo>
                  <a:lnTo>
                    <a:pt x="10210800" y="2151380"/>
                  </a:lnTo>
                  <a:cubicBezTo>
                    <a:pt x="10210800" y="2236216"/>
                    <a:pt x="10141966" y="2305050"/>
                    <a:pt x="10057130" y="2305050"/>
                  </a:cubicBezTo>
                  <a:lnTo>
                    <a:pt x="153670" y="2305050"/>
                  </a:lnTo>
                  <a:cubicBezTo>
                    <a:pt x="68834" y="2305050"/>
                    <a:pt x="0" y="2236216"/>
                    <a:pt x="0" y="215138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4ED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501188" y="6643688"/>
            <a:ext cx="142875" cy="1714500"/>
            <a:chOff x="0" y="0"/>
            <a:chExt cx="190500" cy="2286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05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25C6DA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0078402" y="6927532"/>
            <a:ext cx="6389370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Backend REST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078402" y="7465695"/>
            <a:ext cx="6317932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627083"/>
                </a:solidFill>
                <a:latin typeface="Arimo"/>
                <a:ea typeface="Arimo"/>
                <a:cs typeface="Arimo"/>
                <a:sym typeface="Arimo"/>
              </a:rPr>
              <a:t>42 endpoints organizados por dominio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57175" cy="10287000"/>
            <a:chOff x="0" y="0"/>
            <a:chExt cx="3429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29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C6D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34415" y="588645"/>
            <a:ext cx="1524762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Arquitectura conceptual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64940" y="679132"/>
            <a:ext cx="674370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627083"/>
                </a:solidFill>
                <a:latin typeface="Arimo Bold"/>
                <a:ea typeface="Arimo Bold"/>
                <a:cs typeface="Arimo Bold"/>
                <a:sym typeface="Arimo Bold"/>
              </a:rPr>
              <a:t>08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42975" y="1600200"/>
            <a:ext cx="16402050" cy="28575"/>
            <a:chOff x="0" y="0"/>
            <a:chExt cx="2186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69400" cy="38100"/>
            </a:xfrm>
            <a:custGeom>
              <a:avLst/>
              <a:gdLst/>
              <a:ahLst/>
              <a:cxnLst/>
              <a:rect r="r" b="b" t="t" l="l"/>
              <a:pathLst>
                <a:path h="38100" w="21869400">
                  <a:moveTo>
                    <a:pt x="0" y="0"/>
                  </a:moveTo>
                  <a:lnTo>
                    <a:pt x="21869400" y="0"/>
                  </a:lnTo>
                  <a:lnTo>
                    <a:pt x="21869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CE4E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" y="2643188"/>
            <a:ext cx="3714750" cy="1785938"/>
            <a:chOff x="0" y="0"/>
            <a:chExt cx="4953000" cy="2381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53000" cy="2381250"/>
            </a:xfrm>
            <a:custGeom>
              <a:avLst/>
              <a:gdLst/>
              <a:ahLst/>
              <a:cxnLst/>
              <a:rect r="r" b="b" t="t" l="l"/>
              <a:pathLst>
                <a:path h="2381250" w="4953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800600" y="0"/>
                  </a:lnTo>
                  <a:cubicBezTo>
                    <a:pt x="4884801" y="0"/>
                    <a:pt x="4953000" y="68199"/>
                    <a:pt x="4953000" y="152400"/>
                  </a:cubicBezTo>
                  <a:lnTo>
                    <a:pt x="4953000" y="2228850"/>
                  </a:lnTo>
                  <a:cubicBezTo>
                    <a:pt x="4953000" y="2313051"/>
                    <a:pt x="4884801" y="2381250"/>
                    <a:pt x="4800600" y="2381250"/>
                  </a:cubicBezTo>
                  <a:lnTo>
                    <a:pt x="152400" y="2381250"/>
                  </a:lnTo>
                  <a:cubicBezTo>
                    <a:pt x="68199" y="2381250"/>
                    <a:pt x="0" y="2313051"/>
                    <a:pt x="0" y="2228850"/>
                  </a:cubicBezTo>
                  <a:close/>
                </a:path>
              </a:pathLst>
            </a:custGeom>
            <a:solidFill>
              <a:srgbClr val="2255E6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20190" y="2955608"/>
            <a:ext cx="2960370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7FAFC"/>
                </a:solidFill>
                <a:latin typeface="Arimo Bold"/>
                <a:ea typeface="Arimo Bold"/>
                <a:cs typeface="Arimo Bold"/>
                <a:sym typeface="Arimo Bold"/>
              </a:rPr>
              <a:t>APP MÓVIL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91615" y="3479483"/>
            <a:ext cx="3017520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DCE7F4"/>
                </a:solidFill>
                <a:latin typeface="Arimo"/>
                <a:ea typeface="Arimo"/>
                <a:cs typeface="Arimo"/>
                <a:sym typeface="Arimo"/>
              </a:rPr>
              <a:t>Flutter · iOS y Android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43000" y="5857875"/>
            <a:ext cx="3714750" cy="1785938"/>
            <a:chOff x="0" y="0"/>
            <a:chExt cx="4953000" cy="2381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53000" cy="2381250"/>
            </a:xfrm>
            <a:custGeom>
              <a:avLst/>
              <a:gdLst/>
              <a:ahLst/>
              <a:cxnLst/>
              <a:rect r="r" b="b" t="t" l="l"/>
              <a:pathLst>
                <a:path h="2381250" w="4953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800600" y="0"/>
                  </a:lnTo>
                  <a:cubicBezTo>
                    <a:pt x="4884801" y="0"/>
                    <a:pt x="4953000" y="68199"/>
                    <a:pt x="4953000" y="152400"/>
                  </a:cubicBezTo>
                  <a:lnTo>
                    <a:pt x="4953000" y="2228850"/>
                  </a:lnTo>
                  <a:cubicBezTo>
                    <a:pt x="4953000" y="2313051"/>
                    <a:pt x="4884801" y="2381250"/>
                    <a:pt x="4800600" y="2381250"/>
                  </a:cubicBezTo>
                  <a:lnTo>
                    <a:pt x="152400" y="2381250"/>
                  </a:lnTo>
                  <a:cubicBezTo>
                    <a:pt x="68199" y="2381250"/>
                    <a:pt x="0" y="2313051"/>
                    <a:pt x="0" y="2228850"/>
                  </a:cubicBezTo>
                  <a:close/>
                </a:path>
              </a:pathLst>
            </a:custGeom>
            <a:solidFill>
              <a:srgbClr val="25C6D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20190" y="6170295"/>
            <a:ext cx="2960370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7FAFC"/>
                </a:solidFill>
                <a:latin typeface="Arimo Bold"/>
                <a:ea typeface="Arimo Bold"/>
                <a:cs typeface="Arimo Bold"/>
                <a:sym typeface="Arimo Bold"/>
              </a:rPr>
              <a:t>PROCESAMIENTO LOCAL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91615" y="6694170"/>
            <a:ext cx="3017520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DCE7F4"/>
                </a:solidFill>
                <a:latin typeface="Arimo"/>
                <a:ea typeface="Arimo"/>
                <a:cs typeface="Arimo"/>
                <a:sym typeface="Arimo"/>
              </a:rPr>
              <a:t>AR · cámara · Edge AI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286625" y="2643188"/>
            <a:ext cx="3714750" cy="1785938"/>
            <a:chOff x="0" y="0"/>
            <a:chExt cx="4953000" cy="23812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53000" cy="2381250"/>
            </a:xfrm>
            <a:custGeom>
              <a:avLst/>
              <a:gdLst/>
              <a:ahLst/>
              <a:cxnLst/>
              <a:rect r="r" b="b" t="t" l="l"/>
              <a:pathLst>
                <a:path h="2381250" w="4953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800600" y="0"/>
                  </a:lnTo>
                  <a:cubicBezTo>
                    <a:pt x="4884801" y="0"/>
                    <a:pt x="4953000" y="68199"/>
                    <a:pt x="4953000" y="152400"/>
                  </a:cubicBezTo>
                  <a:lnTo>
                    <a:pt x="4953000" y="2228850"/>
                  </a:lnTo>
                  <a:cubicBezTo>
                    <a:pt x="4953000" y="2313051"/>
                    <a:pt x="4884801" y="2381250"/>
                    <a:pt x="4800600" y="2381250"/>
                  </a:cubicBezTo>
                  <a:lnTo>
                    <a:pt x="152400" y="2381250"/>
                  </a:lnTo>
                  <a:cubicBezTo>
                    <a:pt x="68199" y="2381250"/>
                    <a:pt x="0" y="2313051"/>
                    <a:pt x="0" y="2228850"/>
                  </a:cubicBezTo>
                  <a:close/>
                </a:path>
              </a:pathLst>
            </a:custGeom>
            <a:solidFill>
              <a:srgbClr val="101C2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663815" y="2955608"/>
            <a:ext cx="2960370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7FAFC"/>
                </a:solidFill>
                <a:latin typeface="Arimo Bold"/>
                <a:ea typeface="Arimo Bold"/>
                <a:cs typeface="Arimo Bold"/>
                <a:sym typeface="Arimo Bold"/>
              </a:rPr>
              <a:t>API BACKEND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35240" y="3479483"/>
            <a:ext cx="3017520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DCE7F4"/>
                </a:solidFill>
                <a:latin typeface="Arimo"/>
                <a:ea typeface="Arimo"/>
                <a:cs typeface="Arimo"/>
                <a:sym typeface="Arimo"/>
              </a:rPr>
              <a:t>REST · JWT · 42 endpoints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286625" y="5857875"/>
            <a:ext cx="3714750" cy="1785938"/>
            <a:chOff x="0" y="0"/>
            <a:chExt cx="4953000" cy="2381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53000" cy="2381250"/>
            </a:xfrm>
            <a:custGeom>
              <a:avLst/>
              <a:gdLst/>
              <a:ahLst/>
              <a:cxnLst/>
              <a:rect r="r" b="b" t="t" l="l"/>
              <a:pathLst>
                <a:path h="2381250" w="4953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800600" y="0"/>
                  </a:lnTo>
                  <a:cubicBezTo>
                    <a:pt x="4884801" y="0"/>
                    <a:pt x="4953000" y="68199"/>
                    <a:pt x="4953000" y="152400"/>
                  </a:cubicBezTo>
                  <a:lnTo>
                    <a:pt x="4953000" y="2228850"/>
                  </a:lnTo>
                  <a:cubicBezTo>
                    <a:pt x="4953000" y="2313051"/>
                    <a:pt x="4884801" y="2381250"/>
                    <a:pt x="4800600" y="2381250"/>
                  </a:cubicBezTo>
                  <a:lnTo>
                    <a:pt x="152400" y="2381250"/>
                  </a:lnTo>
                  <a:cubicBezTo>
                    <a:pt x="68199" y="2381250"/>
                    <a:pt x="0" y="2313051"/>
                    <a:pt x="0" y="2228850"/>
                  </a:cubicBezTo>
                  <a:close/>
                </a:path>
              </a:pathLst>
            </a:custGeom>
            <a:solidFill>
              <a:srgbClr val="566B89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7663815" y="6170295"/>
            <a:ext cx="2960370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7FAFC"/>
                </a:solidFill>
                <a:latin typeface="Arimo Bold"/>
                <a:ea typeface="Arimo Bold"/>
                <a:cs typeface="Arimo Bold"/>
                <a:sym typeface="Arimo Bold"/>
              </a:rPr>
              <a:t>DATOS Y AUDITORÍA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35240" y="6694170"/>
            <a:ext cx="3017520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DCE7F4"/>
                </a:solidFill>
                <a:latin typeface="Arimo"/>
                <a:ea typeface="Arimo"/>
                <a:cs typeface="Arimo"/>
                <a:sym typeface="Arimo"/>
              </a:rPr>
              <a:t>Historial · logs · aislamiento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430250" y="4286250"/>
            <a:ext cx="3714750" cy="1785938"/>
            <a:chOff x="0" y="0"/>
            <a:chExt cx="4953000" cy="23812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53000" cy="2381250"/>
            </a:xfrm>
            <a:custGeom>
              <a:avLst/>
              <a:gdLst/>
              <a:ahLst/>
              <a:cxnLst/>
              <a:rect r="r" b="b" t="t" l="l"/>
              <a:pathLst>
                <a:path h="2381250" w="4953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800600" y="0"/>
                  </a:lnTo>
                  <a:cubicBezTo>
                    <a:pt x="4884801" y="0"/>
                    <a:pt x="4953000" y="68199"/>
                    <a:pt x="4953000" y="152400"/>
                  </a:cubicBezTo>
                  <a:lnTo>
                    <a:pt x="4953000" y="2228850"/>
                  </a:lnTo>
                  <a:cubicBezTo>
                    <a:pt x="4953000" y="2313051"/>
                    <a:pt x="4884801" y="2381250"/>
                    <a:pt x="4800600" y="2381250"/>
                  </a:cubicBezTo>
                  <a:lnTo>
                    <a:pt x="152400" y="2381250"/>
                  </a:lnTo>
                  <a:cubicBezTo>
                    <a:pt x="68199" y="2381250"/>
                    <a:pt x="0" y="2313051"/>
                    <a:pt x="0" y="2228850"/>
                  </a:cubicBezTo>
                  <a:close/>
                </a:path>
              </a:pathLst>
            </a:custGeom>
            <a:solidFill>
              <a:srgbClr val="8AE6CE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3807440" y="4598670"/>
            <a:ext cx="2960370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SERVICIOS EXTERNOS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778865" y="5122545"/>
            <a:ext cx="3017520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172033"/>
                </a:solidFill>
                <a:latin typeface="Arimo"/>
                <a:ea typeface="Arimo"/>
                <a:cs typeface="Arimo"/>
                <a:sym typeface="Arimo"/>
              </a:rPr>
              <a:t>Wearables · notificaciones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092065" y="3465195"/>
            <a:ext cx="1960245" cy="275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627083"/>
                </a:solidFill>
                <a:latin typeface="Arimo Bold"/>
                <a:ea typeface="Arimo Bold"/>
                <a:cs typeface="Arimo Bold"/>
                <a:sym typeface="Arimo Bold"/>
              </a:rPr>
              <a:t>Datos de sesión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092065" y="6679882"/>
            <a:ext cx="1960245" cy="275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627083"/>
                </a:solidFill>
                <a:latin typeface="Arimo Bold"/>
                <a:ea typeface="Arimo Bold"/>
                <a:cs typeface="Arimo Bold"/>
                <a:sym typeface="Arimo Bold"/>
              </a:rPr>
              <a:t>Sin video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378565" y="5036820"/>
            <a:ext cx="1888808" cy="275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627083"/>
                </a:solidFill>
                <a:latin typeface="Arimo Bold"/>
                <a:ea typeface="Arimo Bold"/>
                <a:cs typeface="Arimo Bold"/>
                <a:sym typeface="Arimo Bold"/>
              </a:rPr>
              <a:t>Integraciones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57175" cy="10287000"/>
            <a:chOff x="0" y="0"/>
            <a:chExt cx="3429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29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C6D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34415" y="588645"/>
            <a:ext cx="1524762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Seguridad y gobierno de datos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64940" y="679132"/>
            <a:ext cx="674370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627083"/>
                </a:solidFill>
                <a:latin typeface="Arimo Bold"/>
                <a:ea typeface="Arimo Bold"/>
                <a:cs typeface="Arimo Bold"/>
                <a:sym typeface="Arimo Bold"/>
              </a:rPr>
              <a:t>09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42975" y="1600200"/>
            <a:ext cx="16402050" cy="28575"/>
            <a:chOff x="0" y="0"/>
            <a:chExt cx="2186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69400" cy="38100"/>
            </a:xfrm>
            <a:custGeom>
              <a:avLst/>
              <a:gdLst/>
              <a:ahLst/>
              <a:cxnLst/>
              <a:rect r="r" b="b" t="t" l="l"/>
              <a:pathLst>
                <a:path h="38100" w="21869400">
                  <a:moveTo>
                    <a:pt x="0" y="0"/>
                  </a:moveTo>
                  <a:lnTo>
                    <a:pt x="21869400" y="0"/>
                  </a:lnTo>
                  <a:lnTo>
                    <a:pt x="21869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CE4ED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05865" y="2107883"/>
            <a:ext cx="3103245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2255E6"/>
                </a:solidFill>
                <a:latin typeface="Arimo Bold"/>
                <a:ea typeface="Arimo Bold"/>
                <a:cs typeface="Arimo Bold"/>
                <a:sym typeface="Arimo Bold"/>
              </a:rPr>
              <a:t>Autenticación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500562" y="2128838"/>
            <a:ext cx="42862" cy="600075"/>
            <a:chOff x="0" y="0"/>
            <a:chExt cx="57150" cy="800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150" cy="800100"/>
            </a:xfrm>
            <a:custGeom>
              <a:avLst/>
              <a:gdLst/>
              <a:ahLst/>
              <a:cxnLst/>
              <a:rect r="r" b="b" t="t" l="l"/>
              <a:pathLst>
                <a:path h="800100" w="57150">
                  <a:moveTo>
                    <a:pt x="0" y="0"/>
                  </a:moveTo>
                  <a:lnTo>
                    <a:pt x="57150" y="0"/>
                  </a:lnTo>
                  <a:lnTo>
                    <a:pt x="57150" y="800100"/>
                  </a:lnTo>
                  <a:lnTo>
                    <a:pt x="0" y="800100"/>
                  </a:lnTo>
                  <a:close/>
                </a:path>
              </a:pathLst>
            </a:custGeom>
            <a:solidFill>
              <a:srgbClr val="25C6DA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020628" y="2098358"/>
            <a:ext cx="1124712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72033"/>
                </a:solidFill>
                <a:latin typeface="Arimo"/>
                <a:ea typeface="Arimo"/>
                <a:cs typeface="Arimo"/>
                <a:sym typeface="Arimo"/>
              </a:rPr>
              <a:t>JWT de 1 hora, refresh y revocación por formalizar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5865" y="3408045"/>
            <a:ext cx="3103245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Datos sensibles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500562" y="3429000"/>
            <a:ext cx="42862" cy="600075"/>
            <a:chOff x="0" y="0"/>
            <a:chExt cx="57150" cy="800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150" cy="800100"/>
            </a:xfrm>
            <a:custGeom>
              <a:avLst/>
              <a:gdLst/>
              <a:ahLst/>
              <a:cxnLst/>
              <a:rect r="r" b="b" t="t" l="l"/>
              <a:pathLst>
                <a:path h="800100" w="57150">
                  <a:moveTo>
                    <a:pt x="0" y="0"/>
                  </a:moveTo>
                  <a:lnTo>
                    <a:pt x="57150" y="0"/>
                  </a:lnTo>
                  <a:lnTo>
                    <a:pt x="57150" y="800100"/>
                  </a:lnTo>
                  <a:lnTo>
                    <a:pt x="0" y="800100"/>
                  </a:lnTo>
                  <a:close/>
                </a:path>
              </a:pathLst>
            </a:custGeom>
            <a:solidFill>
              <a:srgbClr val="DCE4ED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5020628" y="3398520"/>
            <a:ext cx="1124712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72033"/>
                </a:solidFill>
                <a:latin typeface="Arimo"/>
                <a:ea typeface="Arimo"/>
                <a:cs typeface="Arimo"/>
                <a:sym typeface="Arimo"/>
              </a:rPr>
              <a:t>TLS 1.2+, cifrado en reposo y control interno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5865" y="4708207"/>
            <a:ext cx="3103245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Accesos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500562" y="4729162"/>
            <a:ext cx="42862" cy="600075"/>
            <a:chOff x="0" y="0"/>
            <a:chExt cx="57150" cy="800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150" cy="800100"/>
            </a:xfrm>
            <a:custGeom>
              <a:avLst/>
              <a:gdLst/>
              <a:ahLst/>
              <a:cxnLst/>
              <a:rect r="r" b="b" t="t" l="l"/>
              <a:pathLst>
                <a:path h="800100" w="57150">
                  <a:moveTo>
                    <a:pt x="0" y="0"/>
                  </a:moveTo>
                  <a:lnTo>
                    <a:pt x="57150" y="0"/>
                  </a:lnTo>
                  <a:lnTo>
                    <a:pt x="57150" y="800100"/>
                  </a:lnTo>
                  <a:lnTo>
                    <a:pt x="0" y="800100"/>
                  </a:lnTo>
                  <a:close/>
                </a:path>
              </a:pathLst>
            </a:custGeom>
            <a:solidFill>
              <a:srgbClr val="DCE4ED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020628" y="4698682"/>
            <a:ext cx="1124712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72033"/>
                </a:solidFill>
                <a:latin typeface="Arimo"/>
                <a:ea typeface="Arimo"/>
                <a:cs typeface="Arimo"/>
                <a:sym typeface="Arimo"/>
              </a:rPr>
              <a:t>RBAC granular y permisos transportados como claims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5865" y="6008370"/>
            <a:ext cx="3103245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Auditoría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4500562" y="6029325"/>
            <a:ext cx="42862" cy="600075"/>
            <a:chOff x="0" y="0"/>
            <a:chExt cx="57150" cy="800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150" cy="800100"/>
            </a:xfrm>
            <a:custGeom>
              <a:avLst/>
              <a:gdLst/>
              <a:ahLst/>
              <a:cxnLst/>
              <a:rect r="r" b="b" t="t" l="l"/>
              <a:pathLst>
                <a:path h="800100" w="57150">
                  <a:moveTo>
                    <a:pt x="0" y="0"/>
                  </a:moveTo>
                  <a:lnTo>
                    <a:pt x="57150" y="0"/>
                  </a:lnTo>
                  <a:lnTo>
                    <a:pt x="57150" y="800100"/>
                  </a:lnTo>
                  <a:lnTo>
                    <a:pt x="0" y="800100"/>
                  </a:lnTo>
                  <a:close/>
                </a:path>
              </a:pathLst>
            </a:custGeom>
            <a:solidFill>
              <a:srgbClr val="DCE4ED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5020628" y="5998845"/>
            <a:ext cx="1124712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72033"/>
                </a:solidFill>
                <a:latin typeface="Arimo"/>
                <a:ea typeface="Arimo"/>
                <a:cs typeface="Arimo"/>
                <a:sym typeface="Arimo"/>
              </a:rPr>
              <a:t>Quién, qué, cuándo, origen y resultado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05865" y="7308532"/>
            <a:ext cx="3103245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Privacidad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4500562" y="7329488"/>
            <a:ext cx="42862" cy="600075"/>
            <a:chOff x="0" y="0"/>
            <a:chExt cx="57150" cy="8001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150" cy="800100"/>
            </a:xfrm>
            <a:custGeom>
              <a:avLst/>
              <a:gdLst/>
              <a:ahLst/>
              <a:cxnLst/>
              <a:rect r="r" b="b" t="t" l="l"/>
              <a:pathLst>
                <a:path h="800100" w="57150">
                  <a:moveTo>
                    <a:pt x="0" y="0"/>
                  </a:moveTo>
                  <a:lnTo>
                    <a:pt x="57150" y="0"/>
                  </a:lnTo>
                  <a:lnTo>
                    <a:pt x="57150" y="800100"/>
                  </a:lnTo>
                  <a:lnTo>
                    <a:pt x="0" y="800100"/>
                  </a:lnTo>
                  <a:close/>
                </a:path>
              </a:pathLst>
            </a:custGeom>
            <a:solidFill>
              <a:srgbClr val="DCE4ED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5020628" y="7299007"/>
            <a:ext cx="1124712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72033"/>
                </a:solidFill>
                <a:latin typeface="Arimo"/>
                <a:ea typeface="Arimo"/>
                <a:cs typeface="Arimo"/>
                <a:sym typeface="Arimo"/>
              </a:rPr>
              <a:t>Purga de datos en 30 días y revocación OAuth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57175" cy="10287000"/>
            <a:chOff x="0" y="0"/>
            <a:chExt cx="3429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29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C6D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34415" y="588645"/>
            <a:ext cx="1524762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Metas de calidad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64940" y="679132"/>
            <a:ext cx="674370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627083"/>
                </a:solidFill>
                <a:latin typeface="Arimo Bold"/>
                <a:ea typeface="Arimo Bold"/>
                <a:cs typeface="Arimo Bold"/>
                <a:sym typeface="Arimo Bold"/>
              </a:rPr>
              <a:t>10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42975" y="1600200"/>
            <a:ext cx="16402050" cy="28575"/>
            <a:chOff x="0" y="0"/>
            <a:chExt cx="2186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69400" cy="38100"/>
            </a:xfrm>
            <a:custGeom>
              <a:avLst/>
              <a:gdLst/>
              <a:ahLst/>
              <a:cxnLst/>
              <a:rect r="r" b="b" t="t" l="l"/>
              <a:pathLst>
                <a:path h="38100" w="21869400">
                  <a:moveTo>
                    <a:pt x="0" y="0"/>
                  </a:moveTo>
                  <a:lnTo>
                    <a:pt x="21869400" y="0"/>
                  </a:lnTo>
                  <a:lnTo>
                    <a:pt x="21869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CE4ED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05877" y="2312670"/>
            <a:ext cx="4103370" cy="95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2255E6"/>
                </a:solidFill>
                <a:latin typeface="Arimo Bold"/>
                <a:ea typeface="Arimo Bold"/>
                <a:cs typeface="Arimo Bold"/>
                <a:sym typeface="Arimo Bold"/>
              </a:rPr>
              <a:t>&lt; 3 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5877" y="3493770"/>
            <a:ext cx="410337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27083"/>
                </a:solidFill>
                <a:latin typeface="Arimo"/>
                <a:ea typeface="Arimo"/>
                <a:cs typeface="Arimo"/>
                <a:sym typeface="Arimo"/>
              </a:rPr>
              <a:t>Arranque en frío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06565" y="2312670"/>
            <a:ext cx="4103370" cy="95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2255E6"/>
                </a:solidFill>
                <a:latin typeface="Arimo Bold"/>
                <a:ea typeface="Arimo Bold"/>
                <a:cs typeface="Arimo Bold"/>
                <a:sym typeface="Arimo Bold"/>
              </a:rPr>
              <a:t>&lt; 1 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06565" y="3493770"/>
            <a:ext cx="410337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27083"/>
                </a:solidFill>
                <a:latin typeface="Arimo"/>
                <a:ea typeface="Arimo"/>
                <a:cs typeface="Arimo"/>
                <a:sym typeface="Arimo"/>
              </a:rPr>
              <a:t>Arranque en caliente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07252" y="2312670"/>
            <a:ext cx="4103370" cy="95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2255E6"/>
                </a:solidFill>
                <a:latin typeface="Arimo Bold"/>
                <a:ea typeface="Arimo Bold"/>
                <a:cs typeface="Arimo Bold"/>
                <a:sym typeface="Arimo Bold"/>
              </a:rPr>
              <a:t>≥ 60 fps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07252" y="3493770"/>
            <a:ext cx="410337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27083"/>
                </a:solidFill>
                <a:latin typeface="Arimo"/>
                <a:ea typeface="Arimo"/>
                <a:cs typeface="Arimo"/>
                <a:sym typeface="Arimo"/>
              </a:rPr>
              <a:t>HUD durante workout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5877" y="5313045"/>
            <a:ext cx="4103370" cy="95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2255E6"/>
                </a:solidFill>
                <a:latin typeface="Arimo Bold"/>
                <a:ea typeface="Arimo Bold"/>
                <a:cs typeface="Arimo Bold"/>
                <a:sym typeface="Arimo Bold"/>
              </a:rPr>
              <a:t>&lt; 200 MB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05877" y="6494145"/>
            <a:ext cx="410337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27083"/>
                </a:solidFill>
                <a:latin typeface="Arimo"/>
                <a:ea typeface="Arimo"/>
                <a:cs typeface="Arimo"/>
                <a:sym typeface="Arimo"/>
              </a:rPr>
              <a:t>Memoria móvil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06565" y="5313045"/>
            <a:ext cx="4103370" cy="95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2255E6"/>
                </a:solidFill>
                <a:latin typeface="Arimo Bold"/>
                <a:ea typeface="Arimo Bold"/>
                <a:cs typeface="Arimo Bold"/>
                <a:sym typeface="Arimo Bold"/>
              </a:rPr>
              <a:t>&lt; 500 ms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06565" y="6494145"/>
            <a:ext cx="410337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27083"/>
                </a:solidFill>
                <a:latin typeface="Arimo"/>
                <a:ea typeface="Arimo"/>
                <a:cs typeface="Arimo"/>
                <a:sym typeface="Arimo"/>
              </a:rPr>
              <a:t>Latencia API p95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07252" y="5313045"/>
            <a:ext cx="4103370" cy="95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25C6DA"/>
                </a:solidFill>
                <a:latin typeface="Arimo Bold"/>
                <a:ea typeface="Arimo Bold"/>
                <a:cs typeface="Arimo Bold"/>
                <a:sym typeface="Arimo Bold"/>
              </a:rPr>
              <a:t>99,5%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07252" y="6494145"/>
            <a:ext cx="410337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27083"/>
                </a:solidFill>
                <a:latin typeface="Arimo"/>
                <a:ea typeface="Arimo"/>
                <a:cs typeface="Arimo"/>
                <a:sym typeface="Arimo"/>
              </a:rPr>
              <a:t>Uptime mensual recomendado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34502" y="8670607"/>
            <a:ext cx="14818995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E35454"/>
                </a:solidFill>
                <a:latin typeface="Arimo Bold"/>
                <a:ea typeface="Arimo Bold"/>
                <a:cs typeface="Arimo Bold"/>
                <a:sym typeface="Arimo Bold"/>
              </a:rPr>
              <a:t>Los valores recomendados requieren validación del equipo de producto antes de convertirse en compromisos.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57175" cy="10287000"/>
            <a:chOff x="0" y="0"/>
            <a:chExt cx="3429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29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C6D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34415" y="588645"/>
            <a:ext cx="1524762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Escalabilidad y modelo SaaS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64940" y="679132"/>
            <a:ext cx="674370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627083"/>
                </a:solidFill>
                <a:latin typeface="Arimo Bold"/>
                <a:ea typeface="Arimo Bold"/>
                <a:cs typeface="Arimo Bold"/>
                <a:sym typeface="Arimo Bold"/>
              </a:rPr>
              <a:t>11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42975" y="1600200"/>
            <a:ext cx="16402050" cy="28575"/>
            <a:chOff x="0" y="0"/>
            <a:chExt cx="2186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69400" cy="38100"/>
            </a:xfrm>
            <a:custGeom>
              <a:avLst/>
              <a:gdLst/>
              <a:ahLst/>
              <a:cxnLst/>
              <a:rect r="r" b="b" t="t" l="l"/>
              <a:pathLst>
                <a:path h="38100" w="21869400">
                  <a:moveTo>
                    <a:pt x="0" y="0"/>
                  </a:moveTo>
                  <a:lnTo>
                    <a:pt x="21869400" y="0"/>
                  </a:lnTo>
                  <a:lnTo>
                    <a:pt x="21869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CE4ED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20140" y="2098358"/>
            <a:ext cx="15533370" cy="75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Una misma plataforma puede servir a gimnasios, clínicas y entrenadores sin mezclar sus datos.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43000" y="3500438"/>
            <a:ext cx="7286625" cy="1714500"/>
            <a:chOff x="0" y="0"/>
            <a:chExt cx="9715500" cy="228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155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97155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9563100" y="0"/>
                  </a:lnTo>
                  <a:cubicBezTo>
                    <a:pt x="9647301" y="0"/>
                    <a:pt x="9715500" y="68199"/>
                    <a:pt x="9715500" y="152400"/>
                  </a:cubicBezTo>
                  <a:lnTo>
                    <a:pt x="9715500" y="2133600"/>
                  </a:lnTo>
                  <a:cubicBezTo>
                    <a:pt x="9715500" y="2217801"/>
                    <a:pt x="9647301" y="2286000"/>
                    <a:pt x="9563100" y="2286000"/>
                  </a:cubicBezTo>
                  <a:lnTo>
                    <a:pt x="152400" y="2286000"/>
                  </a:lnTo>
                  <a:cubicBezTo>
                    <a:pt x="68199" y="2286000"/>
                    <a:pt x="0" y="2217801"/>
                    <a:pt x="0" y="2133600"/>
                  </a:cubicBezTo>
                  <a:close/>
                </a:path>
              </a:pathLst>
            </a:custGeom>
            <a:solidFill>
              <a:srgbClr val="EDF4F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591627" y="3784283"/>
            <a:ext cx="6389370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255E6"/>
                </a:solidFill>
                <a:latin typeface="Arimo Bold"/>
                <a:ea typeface="Arimo Bold"/>
                <a:cs typeface="Arimo Bold"/>
                <a:sym typeface="Arimo Bold"/>
              </a:rPr>
              <a:t>MULTI-TENANCY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91627" y="4308157"/>
            <a:ext cx="6389370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>
                <a:solidFill>
                  <a:srgbClr val="172033"/>
                </a:solidFill>
                <a:latin typeface="Arimo"/>
                <a:ea typeface="Arimo"/>
                <a:cs typeface="Arimo"/>
                <a:sym typeface="Arimo"/>
              </a:rPr>
              <a:t>client_id en cada transacción y llamada a la API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86875" y="3500438"/>
            <a:ext cx="7286625" cy="1714500"/>
            <a:chOff x="0" y="0"/>
            <a:chExt cx="9715500" cy="2286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7155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97155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9563100" y="0"/>
                  </a:lnTo>
                  <a:cubicBezTo>
                    <a:pt x="9647301" y="0"/>
                    <a:pt x="9715500" y="68199"/>
                    <a:pt x="9715500" y="152400"/>
                  </a:cubicBezTo>
                  <a:lnTo>
                    <a:pt x="9715500" y="2133600"/>
                  </a:lnTo>
                  <a:cubicBezTo>
                    <a:pt x="9715500" y="2217801"/>
                    <a:pt x="9647301" y="2286000"/>
                    <a:pt x="9563100" y="2286000"/>
                  </a:cubicBezTo>
                  <a:lnTo>
                    <a:pt x="152400" y="2286000"/>
                  </a:lnTo>
                  <a:cubicBezTo>
                    <a:pt x="68199" y="2286000"/>
                    <a:pt x="0" y="2217801"/>
                    <a:pt x="0" y="2133600"/>
                  </a:cubicBezTo>
                  <a:close/>
                </a:path>
              </a:pathLst>
            </a:custGeom>
            <a:solidFill>
              <a:srgbClr val="EAFBFC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735502" y="3784283"/>
            <a:ext cx="6389370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255E6"/>
                </a:solidFill>
                <a:latin typeface="Arimo Bold"/>
                <a:ea typeface="Arimo Bold"/>
                <a:cs typeface="Arimo Bold"/>
                <a:sym typeface="Arimo Bold"/>
              </a:rPr>
              <a:t>FEATURE GATING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35502" y="4308157"/>
            <a:ext cx="6389370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>
                <a:solidFill>
                  <a:srgbClr val="172033"/>
                </a:solidFill>
                <a:latin typeface="Arimo"/>
                <a:ea typeface="Arimo"/>
                <a:cs typeface="Arimo"/>
                <a:sym typeface="Arimo"/>
              </a:rPr>
              <a:t>Funciones habilitadas según el plan comercial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43000" y="5715000"/>
            <a:ext cx="7286625" cy="1714500"/>
            <a:chOff x="0" y="0"/>
            <a:chExt cx="9715500" cy="2286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155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97155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9563100" y="0"/>
                  </a:lnTo>
                  <a:cubicBezTo>
                    <a:pt x="9647301" y="0"/>
                    <a:pt x="9715500" y="68199"/>
                    <a:pt x="9715500" y="152400"/>
                  </a:cubicBezTo>
                  <a:lnTo>
                    <a:pt x="9715500" y="2133600"/>
                  </a:lnTo>
                  <a:cubicBezTo>
                    <a:pt x="9715500" y="2217801"/>
                    <a:pt x="9647301" y="2286000"/>
                    <a:pt x="9563100" y="2286000"/>
                  </a:cubicBezTo>
                  <a:lnTo>
                    <a:pt x="152400" y="2286000"/>
                  </a:lnTo>
                  <a:cubicBezTo>
                    <a:pt x="68199" y="2286000"/>
                    <a:pt x="0" y="2217801"/>
                    <a:pt x="0" y="2133600"/>
                  </a:cubicBezTo>
                  <a:close/>
                </a:path>
              </a:pathLst>
            </a:custGeom>
            <a:solidFill>
              <a:srgbClr val="EDF4F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591627" y="5998845"/>
            <a:ext cx="6389370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255E6"/>
                </a:solidFill>
                <a:latin typeface="Arimo Bold"/>
                <a:ea typeface="Arimo Bold"/>
                <a:cs typeface="Arimo Bold"/>
                <a:sym typeface="Arimo Bold"/>
              </a:rPr>
              <a:t>API-FIRST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91627" y="6522720"/>
            <a:ext cx="6389370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>
                <a:solidFill>
                  <a:srgbClr val="172033"/>
                </a:solidFill>
                <a:latin typeface="Arimo"/>
                <a:ea typeface="Arimo"/>
                <a:cs typeface="Arimo"/>
                <a:sym typeface="Arimo"/>
              </a:rPr>
              <a:t>Reglas consistentes para móvil e integraciones futuras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286875" y="5715000"/>
            <a:ext cx="7286625" cy="1714500"/>
            <a:chOff x="0" y="0"/>
            <a:chExt cx="9715500" cy="2286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7155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97155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9563100" y="0"/>
                  </a:lnTo>
                  <a:cubicBezTo>
                    <a:pt x="9647301" y="0"/>
                    <a:pt x="9715500" y="68199"/>
                    <a:pt x="9715500" y="152400"/>
                  </a:cubicBezTo>
                  <a:lnTo>
                    <a:pt x="9715500" y="2133600"/>
                  </a:lnTo>
                  <a:cubicBezTo>
                    <a:pt x="9715500" y="2217801"/>
                    <a:pt x="9647301" y="2286000"/>
                    <a:pt x="9563100" y="2286000"/>
                  </a:cubicBezTo>
                  <a:lnTo>
                    <a:pt x="152400" y="2286000"/>
                  </a:lnTo>
                  <a:cubicBezTo>
                    <a:pt x="68199" y="2286000"/>
                    <a:pt x="0" y="2217801"/>
                    <a:pt x="0" y="2133600"/>
                  </a:cubicBezTo>
                  <a:close/>
                </a:path>
              </a:pathLst>
            </a:custGeom>
            <a:solidFill>
              <a:srgbClr val="EDF4F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735502" y="5998845"/>
            <a:ext cx="6389370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255E6"/>
                </a:solidFill>
                <a:latin typeface="Arimo Bold"/>
                <a:ea typeface="Arimo Bold"/>
                <a:cs typeface="Arimo Bold"/>
                <a:sym typeface="Arimo Bold"/>
              </a:rPr>
              <a:t>ESCALA HORIZONTAL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35502" y="6522720"/>
            <a:ext cx="6389370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>
                <a:solidFill>
                  <a:srgbClr val="172033"/>
                </a:solidFill>
                <a:latin typeface="Arimo"/>
                <a:ea typeface="Arimo"/>
                <a:cs typeface="Arimo"/>
                <a:sym typeface="Arimo"/>
              </a:rPr>
              <a:t>Backend stateless, caché y servicios replicables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57175" cy="10287000"/>
            <a:chOff x="0" y="0"/>
            <a:chExt cx="3429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29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C6D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34415" y="588645"/>
            <a:ext cx="1524762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Alcance del MVP y decisiones pendientes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64940" y="679132"/>
            <a:ext cx="674370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627083"/>
                </a:solidFill>
                <a:latin typeface="Arimo Bold"/>
                <a:ea typeface="Arimo Bold"/>
                <a:cs typeface="Arimo Bold"/>
                <a:sym typeface="Arimo Bold"/>
              </a:rPr>
              <a:t>12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42975" y="1600200"/>
            <a:ext cx="16402050" cy="28575"/>
            <a:chOff x="0" y="0"/>
            <a:chExt cx="2186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69400" cy="38100"/>
            </a:xfrm>
            <a:custGeom>
              <a:avLst/>
              <a:gdLst/>
              <a:ahLst/>
              <a:cxnLst/>
              <a:rect r="r" b="b" t="t" l="l"/>
              <a:pathLst>
                <a:path h="38100" w="21869400">
                  <a:moveTo>
                    <a:pt x="0" y="0"/>
                  </a:moveTo>
                  <a:lnTo>
                    <a:pt x="21869400" y="0"/>
                  </a:lnTo>
                  <a:lnTo>
                    <a:pt x="21869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CE4ED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3002" y="2179320"/>
            <a:ext cx="5817870" cy="275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2255E6"/>
                </a:solidFill>
                <a:latin typeface="Arimo Bold"/>
                <a:ea typeface="Arimo Bold"/>
                <a:cs typeface="Arimo Bold"/>
                <a:sym typeface="Arimo Bold"/>
              </a:rPr>
              <a:t>INCLUIDO EN EL PRODUCTO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3002" y="2741295"/>
            <a:ext cx="6960870" cy="2642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App móvil, screening, cálculo LOP, mapa corporal, AR Cuff Check, entrenamiento asistido, wearables, analítica y sincronización offline.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64065" y="2179320"/>
            <a:ext cx="6675120" cy="275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E35454"/>
                </a:solidFill>
                <a:latin typeface="Arimo Bold"/>
                <a:ea typeface="Arimo Bold"/>
                <a:cs typeface="Arimo Bold"/>
                <a:sym typeface="Arimo Bold"/>
              </a:rPr>
              <a:t>ANTES DE COMPROMETER PRODUCCIÓN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64065" y="2741295"/>
            <a:ext cx="6960870" cy="3142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true">
                <a:solidFill>
                  <a:srgbClr val="101C2C"/>
                </a:solidFill>
                <a:latin typeface="Arimo Bold"/>
                <a:ea typeface="Arimo Bold"/>
                <a:cs typeface="Arimo Bold"/>
                <a:sym typeface="Arimo Bold"/>
              </a:rPr>
              <a:t>Validar metas recomendadas, definir roles RBAC, fijar versiones mínimas de iOS y Android, formalizar refresh tokens y revisar obligaciones legales sobre datos de salud.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71562" y="6858000"/>
            <a:ext cx="15644812" cy="1643062"/>
            <a:chOff x="0" y="0"/>
            <a:chExt cx="20859750" cy="21907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859750" cy="2190750"/>
            </a:xfrm>
            <a:custGeom>
              <a:avLst/>
              <a:gdLst/>
              <a:ahLst/>
              <a:cxnLst/>
              <a:rect r="r" b="b" t="t" l="l"/>
              <a:pathLst>
                <a:path h="2190750" w="2085975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0707350" y="0"/>
                  </a:lnTo>
                  <a:cubicBezTo>
                    <a:pt x="20791551" y="0"/>
                    <a:pt x="20859750" y="68199"/>
                    <a:pt x="20859750" y="152400"/>
                  </a:cubicBezTo>
                  <a:lnTo>
                    <a:pt x="20859750" y="2038350"/>
                  </a:lnTo>
                  <a:cubicBezTo>
                    <a:pt x="20859750" y="2122551"/>
                    <a:pt x="20791551" y="2190750"/>
                    <a:pt x="20707350" y="2190750"/>
                  </a:cubicBezTo>
                  <a:lnTo>
                    <a:pt x="152400" y="2190750"/>
                  </a:lnTo>
                  <a:cubicBezTo>
                    <a:pt x="68199" y="2190750"/>
                    <a:pt x="0" y="2122551"/>
                    <a:pt x="0" y="2038350"/>
                  </a:cubicBezTo>
                  <a:close/>
                </a:path>
              </a:pathLst>
            </a:custGeom>
            <a:solidFill>
              <a:srgbClr val="101C2C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91627" y="7098982"/>
            <a:ext cx="324612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8AE6CE"/>
                </a:solidFill>
                <a:latin typeface="Arimo Bold"/>
                <a:ea typeface="Arimo Bold"/>
                <a:cs typeface="Arimo Bold"/>
                <a:sym typeface="Arimo Bold"/>
              </a:rPr>
              <a:t>Prioridad del MVP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91627" y="7599045"/>
            <a:ext cx="1410462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7FAFC"/>
                </a:solidFill>
                <a:latin typeface="Arimo Bold"/>
                <a:ea typeface="Arimo Bold"/>
                <a:cs typeface="Arimo Bold"/>
                <a:sym typeface="Arimo Bold"/>
              </a:rPr>
              <a:t>Probar primero el flujo crítico de seguridad: screening, cálculo LOP, colocación del cuff y registro de la sesión.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DAHU7QNMo_E</dc:identifier>
  <dcterms:modified xsi:type="dcterms:W3CDTF">2011-08-01T06:04:30Z</dcterms:modified>
  <cp:revision>1</cp:revision>
  <dc:title>Hytro_Precision_Presentacion_Tesis_Explicativa.pptx</dc:title>
</cp:coreProperties>
</file>