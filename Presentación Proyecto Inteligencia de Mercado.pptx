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jxcp4UlNN98PSSevrItay01nvN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" y="2707792"/>
            <a:ext cx="121920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INTELIGENCIA DE MERCADO</a:t>
            </a: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Continuidad de la plataforma Enci-Intel para Encipharm S.A.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p2"/>
          <p:cNvGrpSpPr/>
          <p:nvPr/>
        </p:nvGrpSpPr>
        <p:grpSpPr>
          <a:xfrm>
            <a:off x="529700" y="1710375"/>
            <a:ext cx="4561780" cy="4900081"/>
            <a:chOff x="0" y="0"/>
            <a:chExt cx="7633500" cy="4350600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7633500" cy="13596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0" y="0"/>
              <a:ext cx="75603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Sebastian La Rosa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Cargo: Scrum Master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desempeñadas: </a:t>
              </a: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Coordinación y análisis funcional.</a:t>
              </a: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 txBox="1"/>
            <p:nvPr/>
          </p:nvSpPr>
          <p:spPr>
            <a:xfrm>
              <a:off x="278907" y="1495494"/>
              <a:ext cx="63414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Diego Díaz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Cargo: Desarrol</a:t>
              </a: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lador </a:t>
              </a: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Backend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: Backend e integración.</a:t>
              </a:r>
              <a:endParaRPr b="1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0" y="2991005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2"/>
            <p:cNvSpPr txBox="1"/>
            <p:nvPr/>
          </p:nvSpPr>
          <p:spPr>
            <a:xfrm>
              <a:off x="365003" y="2991000"/>
              <a:ext cx="72684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Lily Rendic</a:t>
              </a:r>
              <a:endParaRPr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Cargo: Desarrollador Frontend</a:t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desempeñadas: Frontend y visualizaciones.</a:t>
              </a:r>
              <a:endParaRPr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" name="Google Shape;98;p2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“I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NTELIGENCIA DE MERCADO</a:t>
            </a: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1363722" y="910950"/>
            <a:ext cx="8702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101" name="Google Shape;101;p2"/>
          <p:cNvGrpSpPr/>
          <p:nvPr/>
        </p:nvGrpSpPr>
        <p:grpSpPr>
          <a:xfrm>
            <a:off x="5794350" y="2304462"/>
            <a:ext cx="5316733" cy="3215705"/>
            <a:chOff x="0" y="0"/>
            <a:chExt cx="7633500" cy="2855105"/>
          </a:xfrm>
        </p:grpSpPr>
        <p:sp>
          <p:nvSpPr>
            <p:cNvPr id="102" name="Google Shape;102;p2"/>
            <p:cNvSpPr/>
            <p:nvPr/>
          </p:nvSpPr>
          <p:spPr>
            <a:xfrm>
              <a:off x="0" y="0"/>
              <a:ext cx="7633500" cy="13596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4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"/>
            <p:cNvSpPr txBox="1"/>
            <p:nvPr/>
          </p:nvSpPr>
          <p:spPr>
            <a:xfrm>
              <a:off x="0" y="0"/>
              <a:ext cx="75603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Natalia Quintana</a:t>
              </a:r>
              <a:endParaRPr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Cargo : Ingeniero de Datos </a:t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desempeñadas: Agentes, datos y alertas.</a:t>
              </a:r>
              <a:endParaRPr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0" y="1495502"/>
              <a:ext cx="7633500" cy="13596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4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2"/>
            <p:cNvSpPr txBox="1"/>
            <p:nvPr/>
          </p:nvSpPr>
          <p:spPr>
            <a:xfrm>
              <a:off x="278932" y="1495505"/>
              <a:ext cx="66486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Marcelo Carvajal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Cargo: DevOps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</a:t>
              </a: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:  Cloud, seguridad, CI/CD y calidad.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“INTELIGENCIA DE MERCADO”</a:t>
            </a:r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" name="Google Shape;113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14" name="Google Shape;114;p3"/>
          <p:cNvSpPr/>
          <p:nvPr/>
        </p:nvSpPr>
        <p:spPr>
          <a:xfrm>
            <a:off x="571500" y="2150000"/>
            <a:ext cx="4663500" cy="38049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 sz="2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Encipharm realiza gran parte de su proceso de inteligencia de mercado de forma manual, utilizando planillas Excel y consultando distintas fuentes de información.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Este proceso puede generar tiempos de entre 1 y 7 días para recopilar y revisar información sobre precios, productos, cambios regulatorios y competidores, dificultando el acceso oportuno a información relevante para la toma de decisiones.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6912075" y="2177325"/>
            <a:ext cx="4838100" cy="37776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 sz="2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Dar continuidad al desarrollo de Enci-Intel, plataforma de inteligencia de mercado para Encipharm, orientada a automatizar la recopilación, análisis y visualización de información relevante.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solución busca fortalecer el monitoreo de productos, precios y competidores mediante agentes y alertas, integrando las nuevas funcionalidades con los componentes ya desarrollados.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5525703" y="3687533"/>
            <a:ext cx="1140600" cy="75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1" name="Google Shape;12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INTELIGENCIA DE MERCADO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23" name="Google Shape;123;p4"/>
          <p:cNvSpPr txBox="1"/>
          <p:nvPr/>
        </p:nvSpPr>
        <p:spPr>
          <a:xfrm>
            <a:off x="614525" y="1155250"/>
            <a:ext cx="483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" name="Google Shape;124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25" name="Google Shape;125;p4"/>
          <p:cNvSpPr txBox="1"/>
          <p:nvPr/>
        </p:nvSpPr>
        <p:spPr>
          <a:xfrm>
            <a:off x="6238100" y="1155250"/>
            <a:ext cx="483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614525" y="2034525"/>
            <a:ext cx="4836000" cy="3885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Dar continuidad y completar el MVP de Enci‑Intel mediante la integración de agentes de inteligencia, alertas, dashboard y Consultor Veterinario IA en Google Cloud, para apoyar la toma de decisiones de Encipharm y reducir el tiempo de respuesta ante cambios del mercado a menos de cuatro horas.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6113125" y="1964100"/>
            <a:ext cx="4836000" cy="3966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Analizar el estado actual de los componentes heredados.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Completar e integrar los agentes de inteligencia del MVP.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la generación y el almacenamiento de alertas en Firestore.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Integrar los endpoints críticos mediante FastAPI.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Actualizar el dashboard para consultar y gestionar alertas.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Integrar el Consultor Veterinario IA.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Desplegar y validar la plataforma en Google Cloud, incorporando seguridad, CI/CD y pruebas.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2" name="Google Shape;13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INTELIGENCIA DE MERCADO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34" name="Google Shape;134;p5"/>
          <p:cNvSpPr txBox="1"/>
          <p:nvPr/>
        </p:nvSpPr>
        <p:spPr>
          <a:xfrm>
            <a:off x="-60875" y="127033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 y limitaciones del proyecto</a:t>
            </a:r>
            <a:endParaRPr/>
          </a:p>
        </p:txBody>
      </p:sp>
      <p:cxnSp>
        <p:nvCxnSpPr>
          <p:cNvPr id="135" name="Google Shape;135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36" name="Google Shape;136;p5"/>
          <p:cNvSpPr/>
          <p:nvPr/>
        </p:nvSpPr>
        <p:spPr>
          <a:xfrm>
            <a:off x="5907150" y="2290175"/>
            <a:ext cx="5762400" cy="410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chemeClr val="dk1"/>
                </a:solidFill>
              </a:rPr>
              <a:t>Limitaciones</a:t>
            </a:r>
            <a:endParaRPr b="1" sz="20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CL" sz="1600">
                <a:solidFill>
                  <a:schemeClr val="dk1"/>
                </a:solidFill>
              </a:rPr>
              <a:t>Plazo de 18 semanas y equipo de cinco integrantes.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CL" sz="1600">
                <a:solidFill>
                  <a:schemeClr val="dk1"/>
                </a:solidFill>
              </a:rPr>
              <a:t>Dependencia del código, documentación y componentes heredados.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CL" sz="1600">
                <a:solidFill>
                  <a:schemeClr val="dk1"/>
                </a:solidFill>
              </a:rPr>
              <a:t>Acceso limitado a GCP y a fuentes externas como ISP, SAG y Aduanas.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CL" sz="1600">
                <a:solidFill>
                  <a:schemeClr val="dk1"/>
                </a:solidFill>
              </a:rPr>
              <a:t>Posibles restricciones técnicas, costos o cambios en las fuentes de datos.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CL" sz="1600">
                <a:solidFill>
                  <a:schemeClr val="dk1"/>
                </a:solidFill>
              </a:rPr>
              <a:t>El Análisis de Productos, Mapa Competitivo y reportes avanzados dependerán del avance y de la validación del Product Owner.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783925" y="2135975"/>
            <a:ext cx="4555200" cy="4260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chemeClr val="dk1"/>
                </a:solidFill>
              </a:rPr>
              <a:t>Alcance</a:t>
            </a:r>
            <a:endParaRPr b="1" sz="20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CL" sz="1600">
                <a:solidFill>
                  <a:schemeClr val="dk1"/>
                </a:solidFill>
              </a:rPr>
              <a:t>Completar e integrar los agentes de inteligencia del MVP.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CL" sz="1600">
                <a:solidFill>
                  <a:schemeClr val="dk1"/>
                </a:solidFill>
              </a:rPr>
              <a:t>Generar y visualizar alertas de mercado en el dashboard.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CL" sz="1600">
                <a:solidFill>
                  <a:schemeClr val="dk1"/>
                </a:solidFill>
              </a:rPr>
              <a:t>Integrar los endpoints críticos y el Consultor Veterinario IA.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CL" sz="1600">
                <a:solidFill>
                  <a:schemeClr val="dk1"/>
                </a:solidFill>
              </a:rPr>
              <a:t>Almacenar la información en Firestore.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-CL" sz="1600">
                <a:solidFill>
                  <a:schemeClr val="dk1"/>
                </a:solidFill>
              </a:rPr>
              <a:t>Desplegar y validar la plataforma en Google Cloud.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2" name="Google Shape;14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INTELIGENCIA DE MERCADO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44" name="Google Shape;144;p6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45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46" name="Google Shape;146;p6"/>
          <p:cNvSpPr txBox="1"/>
          <p:nvPr/>
        </p:nvSpPr>
        <p:spPr>
          <a:xfrm>
            <a:off x="4965438" y="2078950"/>
            <a:ext cx="253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-CL" sz="20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Metodología Scrum</a:t>
            </a:r>
            <a:endParaRPr b="1" sz="20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 txBox="1"/>
          <p:nvPr/>
        </p:nvSpPr>
        <p:spPr>
          <a:xfrm>
            <a:off x="297200" y="3143225"/>
            <a:ext cx="3383400" cy="21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900">
                <a:latin typeface="Calibri"/>
                <a:ea typeface="Calibri"/>
                <a:cs typeface="Calibri"/>
                <a:sym typeface="Calibri"/>
              </a:rPr>
              <a:t>FASE 1 — DEFINICIÓN</a:t>
            </a:r>
            <a:endParaRPr b="1" sz="1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●"/>
            </a:pPr>
            <a:r>
              <a:rPr lang="es-CL" sz="1700">
                <a:latin typeface="Calibri"/>
                <a:ea typeface="Calibri"/>
                <a:cs typeface="Calibri"/>
                <a:sym typeface="Calibri"/>
              </a:rPr>
              <a:t>Diagnóstico del estado actual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●"/>
            </a:pPr>
            <a:r>
              <a:rPr lang="es-CL" sz="1700">
                <a:latin typeface="Calibri"/>
                <a:ea typeface="Calibri"/>
                <a:cs typeface="Calibri"/>
                <a:sym typeface="Calibri"/>
              </a:rPr>
              <a:t>Definición del alcance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●"/>
            </a:pPr>
            <a:r>
              <a:rPr lang="es-CL" sz="1700">
                <a:latin typeface="Calibri"/>
                <a:ea typeface="Calibri"/>
                <a:cs typeface="Calibri"/>
                <a:sym typeface="Calibri"/>
              </a:rPr>
              <a:t>Elaboración del backlog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●"/>
            </a:pPr>
            <a:r>
              <a:rPr lang="es-CL" sz="1700">
                <a:latin typeface="Calibri"/>
                <a:ea typeface="Calibri"/>
                <a:cs typeface="Calibri"/>
                <a:sym typeface="Calibri"/>
              </a:rPr>
              <a:t>Diseño de la solución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4434887" y="3166475"/>
            <a:ext cx="3594600" cy="18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2 — DESARROLLO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Desarrollo de funcionalidades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Integración de agentes y servicios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Implementación de módulos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Seguimiento del avance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 txBox="1"/>
          <p:nvPr/>
        </p:nvSpPr>
        <p:spPr>
          <a:xfrm>
            <a:off x="8651150" y="3143225"/>
            <a:ext cx="3383400" cy="18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3 — VALIDACIÓN Y CIERRE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Pruebas y correcciones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Validación de funcionalidades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Documentación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3589125" y="4022800"/>
            <a:ext cx="629400" cy="183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8021755" y="4011375"/>
            <a:ext cx="629400" cy="183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 txBox="1"/>
          <p:nvPr/>
        </p:nvSpPr>
        <p:spPr>
          <a:xfrm>
            <a:off x="4141500" y="5600700"/>
            <a:ext cx="39090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Herramientas de trabajo:</a:t>
            </a: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Historias de usuario · Criterios de aceptación · Backlog · Tablero de tareas · Git · Revisión de código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7" name="Google Shape;15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7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“INTELIGENCIA DE MERCADO”</a:t>
            </a:r>
            <a:endParaRPr/>
          </a:p>
        </p:txBody>
      </p:sp>
      <p:sp>
        <p:nvSpPr>
          <p:cNvPr id="159" name="Google Shape;159;p7"/>
          <p:cNvSpPr txBox="1"/>
          <p:nvPr/>
        </p:nvSpPr>
        <p:spPr>
          <a:xfrm>
            <a:off x="1" y="1155656"/>
            <a:ext cx="12192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o Release Plan para el desarrollo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p7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61" name="Google Shape;161;p7" title="Screenshot 2026-09-03 23560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7137" y="1956050"/>
            <a:ext cx="8190124" cy="469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7" name="Google Shape;16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INTELIGENCIA DE MERCADO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69" name="Google Shape;169;p8"/>
          <p:cNvSpPr txBox="1"/>
          <p:nvPr/>
        </p:nvSpPr>
        <p:spPr>
          <a:xfrm>
            <a:off x="0" y="1432655"/>
            <a:ext cx="1219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0" name="Google Shape;170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71" name="Google Shape;171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2775" y="1206250"/>
            <a:ext cx="7446099" cy="518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6" name="Google Shape;1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9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INTELIGENCIA DE MERCADO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78" name="Google Shape;178;p9"/>
          <p:cNvSpPr txBox="1"/>
          <p:nvPr/>
        </p:nvSpPr>
        <p:spPr>
          <a:xfrm>
            <a:off x="0" y="115298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/>
          </a:p>
        </p:txBody>
      </p:sp>
      <p:cxnSp>
        <p:nvCxnSpPr>
          <p:cNvPr id="179" name="Google Shape;179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80" name="Google Shape;180;p9"/>
          <p:cNvSpPr txBox="1"/>
          <p:nvPr/>
        </p:nvSpPr>
        <p:spPr>
          <a:xfrm>
            <a:off x="1214900" y="1959550"/>
            <a:ext cx="96810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s-CL" sz="1600">
                <a:solidFill>
                  <a:schemeClr val="dk1"/>
                </a:solidFill>
              </a:rPr>
              <a:t>El modelo de datos de Enci-Intel utiliza Firestore, una base de datos NoSQL que organiza la información en colecciones de documentos. Las principales colecciones almacenan alertas, agentes, productos, permitiendo centralizar y consultar la información generada por la plataforma.  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81" name="Google Shape;181;p9" title="WhatsApp Image 2026-09-02 at 10.42.29 P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4050" y="3205700"/>
            <a:ext cx="5682701" cy="319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6" name="Google Shape;18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INTELIGENCIA DE MERCADO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88" name="Google Shape;188;p10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/>
          </a:p>
        </p:txBody>
      </p:sp>
      <p:cxnSp>
        <p:nvCxnSpPr>
          <p:cNvPr id="189" name="Google Shape;189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90" name="Google Shape;19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9938" y="2211452"/>
            <a:ext cx="10164500" cy="320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5" name="Google Shape;19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1"/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*Exposición del sistema</a:t>
            </a:r>
            <a:endParaRPr sz="24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1" name="Google Shape;20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2"/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7" name="Google Shape;20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3"/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3" name="Google Shape;21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4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